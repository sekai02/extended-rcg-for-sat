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5" r:id="rId9"/>
    <p:sldId id="266" r:id="rId10"/>
    <p:sldId id="267" r:id="rId11"/>
    <p:sldId id="268" r:id="rId12"/>
    <p:sldId id="269" r:id="rId13"/>
    <p:sldId id="271" r:id="rId14"/>
    <p:sldId id="272" r:id="rId15"/>
    <p:sldId id="273" r:id="rId16"/>
    <p:sldId id="279" r:id="rId17"/>
    <p:sldId id="263" r:id="rId18"/>
    <p:sldId id="284" r:id="rId19"/>
    <p:sldId id="280" r:id="rId20"/>
    <p:sldId id="264" r:id="rId21"/>
    <p:sldId id="281" r:id="rId22"/>
    <p:sldId id="283" r:id="rId23"/>
    <p:sldId id="282" r:id="rId24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96" autoAdjust="0"/>
    <p:restoredTop sz="94660"/>
  </p:normalViewPr>
  <p:slideViewPr>
    <p:cSldViewPr snapToGrid="0">
      <p:cViewPr varScale="1">
        <p:scale>
          <a:sx n="63" d="100"/>
          <a:sy n="63" d="100"/>
        </p:scale>
        <p:origin x="-588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0129B2-7F59-4621-BAC9-5180340633EA}" type="datetimeFigureOut">
              <a:rPr lang="es-ES_tradnl" smtClean="0"/>
              <a:t>03/09/2023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24037-753D-448D-9E52-C9506565DD3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42048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9FFC36-DFCB-48AE-8078-14B019DE0811}" type="slidenum">
              <a:rPr lang="es-ES"/>
              <a:pPr/>
              <a:t>12</a:t>
            </a:fld>
            <a:endParaRPr lang="es-ES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10421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C392CC-01E3-4BE5-B6B9-B380AFE69EE4}" type="slidenum">
              <a:rPr lang="es-ES"/>
              <a:pPr/>
              <a:t>13</a:t>
            </a:fld>
            <a:endParaRPr lang="es-ES"/>
          </a:p>
        </p:txBody>
      </p:sp>
      <p:sp>
        <p:nvSpPr>
          <p:cNvPr id="21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7356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614378-D746-419B-B395-ED41623FBB85}" type="slidenum">
              <a:rPr lang="es-ES"/>
              <a:pPr/>
              <a:t>14</a:t>
            </a:fld>
            <a:endParaRPr lang="es-ES"/>
          </a:p>
        </p:txBody>
      </p:sp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07403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518F63-CD54-4F34-AC41-4FE77500E56E}" type="slidenum">
              <a:rPr lang="es-ES"/>
              <a:pPr/>
              <a:t>15</a:t>
            </a:fld>
            <a:endParaRPr lang="es-ES"/>
          </a:p>
        </p:txBody>
      </p:sp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56851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518F63-CD54-4F34-AC41-4FE77500E56E}" type="slidenum">
              <a:rPr lang="es-ES"/>
              <a:pPr/>
              <a:t>16</a:t>
            </a:fld>
            <a:endParaRPr lang="es-ES"/>
          </a:p>
        </p:txBody>
      </p:sp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52360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0256-CF3C-489F-8B86-DB3ED6C659D3}" type="datetimeFigureOut">
              <a:rPr lang="es-ES_tradnl" smtClean="0"/>
              <a:t>03/09/2023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04E0C-EE46-4359-9F4F-F0E3C5852AE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15755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0256-CF3C-489F-8B86-DB3ED6C659D3}" type="datetimeFigureOut">
              <a:rPr lang="es-ES_tradnl" smtClean="0"/>
              <a:t>03/09/2023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04E0C-EE46-4359-9F4F-F0E3C5852AE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52746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0256-CF3C-489F-8B86-DB3ED6C659D3}" type="datetimeFigureOut">
              <a:rPr lang="es-ES_tradnl" smtClean="0"/>
              <a:t>03/09/2023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04E0C-EE46-4359-9F4F-F0E3C5852AE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06062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0256-CF3C-489F-8B86-DB3ED6C659D3}" type="datetimeFigureOut">
              <a:rPr lang="es-ES_tradnl" smtClean="0"/>
              <a:t>03/09/2023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04E0C-EE46-4359-9F4F-F0E3C5852AE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02534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0256-CF3C-489F-8B86-DB3ED6C659D3}" type="datetimeFigureOut">
              <a:rPr lang="es-ES_tradnl" smtClean="0"/>
              <a:t>03/09/2023</a:t>
            </a:fld>
            <a:endParaRPr lang="es-ES_tradn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04E0C-EE46-4359-9F4F-F0E3C5852AE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71786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0256-CF3C-489F-8B86-DB3ED6C659D3}" type="datetimeFigureOut">
              <a:rPr lang="es-ES_tradnl" smtClean="0"/>
              <a:t>03/09/2023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04E0C-EE46-4359-9F4F-F0E3C5852AE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54703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0256-CF3C-489F-8B86-DB3ED6C659D3}" type="datetimeFigureOut">
              <a:rPr lang="es-ES_tradnl" smtClean="0"/>
              <a:t>03/09/2023</a:t>
            </a:fld>
            <a:endParaRPr lang="es-ES_tradn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04E0C-EE46-4359-9F4F-F0E3C5852AE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5066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0256-CF3C-489F-8B86-DB3ED6C659D3}" type="datetimeFigureOut">
              <a:rPr lang="es-ES_tradnl" smtClean="0"/>
              <a:t>03/09/2023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04E0C-EE46-4359-9F4F-F0E3C5852AE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10469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0256-CF3C-489F-8B86-DB3ED6C659D3}" type="datetimeFigureOut">
              <a:rPr lang="es-ES_tradnl" smtClean="0"/>
              <a:t>03/09/2023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04E0C-EE46-4359-9F4F-F0E3C5852AE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80772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0256-CF3C-489F-8B86-DB3ED6C659D3}" type="datetimeFigureOut">
              <a:rPr lang="es-ES_tradnl" smtClean="0"/>
              <a:t>03/09/2023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04E0C-EE46-4359-9F4F-F0E3C5852AE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84632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0256-CF3C-489F-8B86-DB3ED6C659D3}" type="datetimeFigureOut">
              <a:rPr lang="es-ES_tradnl" smtClean="0"/>
              <a:t>03/09/2023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04E0C-EE46-4359-9F4F-F0E3C5852AE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58428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10256-CF3C-489F-8B86-DB3ED6C659D3}" type="datetimeFigureOut">
              <a:rPr lang="es-ES_tradnl" smtClean="0"/>
              <a:t>03/09/2023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04E0C-EE46-4359-9F4F-F0E3C5852AE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12691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Metodología de la investigación</a:t>
            </a:r>
            <a:endParaRPr lang="es-ES_tradnl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s-ES" dirty="0" smtClean="0"/>
              <a:t>Sumario: Problema científico</a:t>
            </a:r>
          </a:p>
          <a:p>
            <a:pPr algn="l"/>
            <a:r>
              <a:rPr lang="es-ES" dirty="0" smtClean="0"/>
              <a:t>	    Hipótesis</a:t>
            </a:r>
          </a:p>
          <a:p>
            <a:pPr algn="l"/>
            <a:r>
              <a:rPr lang="es-ES" dirty="0"/>
              <a:t> </a:t>
            </a:r>
            <a:r>
              <a:rPr lang="es-ES" dirty="0" smtClean="0"/>
              <a:t>                 Métodos de Investigación</a:t>
            </a:r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227599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1317355" y="1828343"/>
            <a:ext cx="913172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/>
              <a:t>S</a:t>
            </a:r>
            <a:r>
              <a:rPr lang="es-ES" sz="2400" i="0" u="none" strike="noStrike" baseline="0" dirty="0" smtClean="0"/>
              <a:t>urgen de las </a:t>
            </a:r>
            <a:r>
              <a:rPr lang="es-ES" sz="2400" b="1" i="0" u="none" strike="noStrike" baseline="0" dirty="0" smtClean="0"/>
              <a:t>necesidades de la producción</a:t>
            </a:r>
            <a:r>
              <a:rPr lang="es-ES" sz="2400" i="0" u="none" strike="noStrike" baseline="0" dirty="0" smtClean="0"/>
              <a:t>, la </a:t>
            </a:r>
            <a:r>
              <a:rPr lang="es-ES" sz="2400" b="1" i="0" u="none" strike="noStrike" baseline="0" dirty="0" smtClean="0"/>
              <a:t>economía </a:t>
            </a:r>
            <a:r>
              <a:rPr lang="es-ES" sz="2400" i="0" u="none" strike="noStrike" baseline="0" dirty="0" smtClean="0"/>
              <a:t>y la </a:t>
            </a:r>
            <a:r>
              <a:rPr lang="es-ES" sz="2400" b="1" i="0" u="none" strike="noStrike" baseline="0" dirty="0" smtClean="0"/>
              <a:t>sociedad</a:t>
            </a:r>
            <a:r>
              <a:rPr lang="es-ES" sz="2400" i="0" u="none" strike="noStrike" baseline="0" dirty="0" smtClean="0"/>
              <a:t> en su conjunto. </a:t>
            </a:r>
          </a:p>
          <a:p>
            <a:r>
              <a:rPr lang="es-ES" sz="2400" i="0" u="none" strike="noStrike" baseline="0" dirty="0" smtClean="0"/>
              <a:t>A partir de la percepción y el conocimiento de estas necesidades el investigador genera:  ideas, concepciones, hipótesis de trabajo, teorías que permiten resolver exitosamente el problema planteado y dar respuesta a estas necesidades.</a:t>
            </a:r>
            <a:endParaRPr lang="es-ES_tradnl" sz="2400" dirty="0"/>
          </a:p>
        </p:txBody>
      </p:sp>
      <p:sp>
        <p:nvSpPr>
          <p:cNvPr id="3" name="Rectángulo 2"/>
          <p:cNvSpPr/>
          <p:nvPr/>
        </p:nvSpPr>
        <p:spPr>
          <a:xfrm>
            <a:off x="2275216" y="269838"/>
            <a:ext cx="7053534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i="0" u="none" strike="noStrike" baseline="0" dirty="0" smtClean="0">
                <a:latin typeface="+mj-lt"/>
              </a:rPr>
              <a:t>¿Cómo surge un problema científico en </a:t>
            </a:r>
            <a:endParaRPr lang="es-ES" sz="2800" b="1" i="0" u="none" strike="noStrike" baseline="0" dirty="0" smtClean="0">
              <a:latin typeface="+mj-lt"/>
            </a:endParaRPr>
          </a:p>
          <a:p>
            <a:r>
              <a:rPr lang="es-ES" sz="2800" b="1" i="0" u="none" strike="noStrike" baseline="0" dirty="0" smtClean="0">
                <a:latin typeface="+mj-lt"/>
              </a:rPr>
              <a:t>Ciencia </a:t>
            </a:r>
            <a:r>
              <a:rPr lang="es-ES" sz="2800" b="1" i="0" u="none" strike="noStrike" baseline="0" dirty="0" smtClean="0">
                <a:latin typeface="+mj-lt"/>
              </a:rPr>
              <a:t>de la Computación (CC)?</a:t>
            </a:r>
          </a:p>
        </p:txBody>
      </p:sp>
      <p:sp>
        <p:nvSpPr>
          <p:cNvPr id="4" name="Rectángulo 3"/>
          <p:cNvSpPr/>
          <p:nvPr/>
        </p:nvSpPr>
        <p:spPr>
          <a:xfrm>
            <a:off x="484830" y="4632613"/>
            <a:ext cx="10634306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sz="2400" dirty="0"/>
              <a:t>Los temas </a:t>
            </a:r>
            <a:r>
              <a:rPr lang="es-ES" sz="2400" dirty="0" smtClean="0"/>
              <a:t>de CC deben </a:t>
            </a:r>
            <a:r>
              <a:rPr lang="es-ES" sz="2400" dirty="0"/>
              <a:t>seleccionarse de forma tal que: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400" dirty="0" smtClean="0"/>
              <a:t>Posean </a:t>
            </a:r>
            <a:r>
              <a:rPr lang="es-ES" sz="2400" dirty="0"/>
              <a:t>actualidad y novedad científica dando respuesta racional a la solución de los problemas </a:t>
            </a:r>
            <a:r>
              <a:rPr lang="es-ES" sz="2400" dirty="0" smtClean="0"/>
              <a:t>mediante un enfoque matemático computacional. </a:t>
            </a:r>
            <a:endParaRPr lang="es-ES_tradnl" sz="2400" dirty="0"/>
          </a:p>
          <a:p>
            <a:pPr marL="457200" indent="-457200">
              <a:buFont typeface="+mj-lt"/>
              <a:buAutoNum type="arabicPeriod"/>
            </a:pPr>
            <a:r>
              <a:rPr lang="es-ES" sz="2400" dirty="0" smtClean="0"/>
              <a:t>Garanticen </a:t>
            </a:r>
            <a:r>
              <a:rPr lang="es-ES" sz="2400" dirty="0"/>
              <a:t>la consolidación y ampliación de los conocimientos teóricos y prácticos en el campo de la </a:t>
            </a:r>
            <a:r>
              <a:rPr lang="es-ES" sz="2400" dirty="0" smtClean="0"/>
              <a:t>propia Ciencia.</a:t>
            </a:r>
            <a:endParaRPr lang="es-ES_tradnl" sz="2400" dirty="0"/>
          </a:p>
        </p:txBody>
      </p:sp>
    </p:spTree>
    <p:extLst>
      <p:ext uri="{BB962C8B-B14F-4D97-AF65-F5344CB8AC3E}">
        <p14:creationId xmlns:p14="http://schemas.microsoft.com/office/powerpoint/2010/main" val="1873229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608916" y="501134"/>
            <a:ext cx="57935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i="0" u="none" strike="noStrike" baseline="0" dirty="0" smtClean="0">
                <a:latin typeface="+mj-lt"/>
              </a:rPr>
              <a:t>Necesidad de conocer los antecedentes</a:t>
            </a:r>
            <a:endParaRPr lang="es-ES_tradnl" sz="2800" dirty="0">
              <a:latin typeface="+mj-lt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831741" y="1619968"/>
            <a:ext cx="1024954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ES" sz="2000" i="0" u="none" strike="noStrike" baseline="0" dirty="0" smtClean="0">
                <a:cs typeface="Times New Roman" panose="02020603050405020304" pitchFamily="18" charset="0"/>
              </a:rPr>
              <a:t>No investigar </a:t>
            </a:r>
            <a:r>
              <a:rPr lang="es-ES" sz="2000" b="1" i="0" u="none" strike="noStrike" baseline="0" dirty="0" smtClean="0">
                <a:cs typeface="Times New Roman" panose="02020603050405020304" pitchFamily="18" charset="0"/>
              </a:rPr>
              <a:t>— de la misma forma — </a:t>
            </a:r>
            <a:r>
              <a:rPr lang="es-ES" sz="2000" i="0" u="none" strike="noStrike" baseline="0" dirty="0" smtClean="0">
                <a:cs typeface="Times New Roman" panose="02020603050405020304" pitchFamily="18" charset="0"/>
              </a:rPr>
              <a:t>algún tema de investigación que ya ha sido </a:t>
            </a:r>
            <a:r>
              <a:rPr lang="es-ES_tradnl" sz="2000" i="0" u="none" strike="noStrike" baseline="0" dirty="0" smtClean="0">
                <a:cs typeface="Times New Roman" panose="02020603050405020304" pitchFamily="18" charset="0"/>
              </a:rPr>
              <a:t>estudiado anteriormente por algún investigador o grupo de investigadores.</a:t>
            </a:r>
          </a:p>
          <a:p>
            <a:pPr marL="457200" indent="-457200">
              <a:buFont typeface="+mj-lt"/>
              <a:buAutoNum type="arabicPeriod"/>
            </a:pPr>
            <a:endParaRPr lang="es-ES_tradnl" sz="2000" i="0" u="none" strike="noStrike" baseline="0" dirty="0" smtClean="0"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s-ES" sz="2000" dirty="0" smtClean="0">
                <a:cs typeface="Times New Roman" panose="02020603050405020304" pitchFamily="18" charset="0"/>
              </a:rPr>
              <a:t>Estructurar</a:t>
            </a:r>
            <a:r>
              <a:rPr lang="es-ES" sz="2000" b="1" dirty="0" smtClean="0"/>
              <a:t> </a:t>
            </a:r>
            <a:r>
              <a:rPr lang="es-ES" sz="2000" b="1" dirty="0"/>
              <a:t>formalmente el tema de investigación</a:t>
            </a:r>
          </a:p>
          <a:p>
            <a:pPr lvl="1"/>
            <a:r>
              <a:rPr lang="es-ES" sz="2000" dirty="0"/>
              <a:t>D</a:t>
            </a:r>
            <a:r>
              <a:rPr lang="es-ES" sz="2000" dirty="0" smtClean="0"/>
              <a:t>efinir </a:t>
            </a:r>
            <a:r>
              <a:rPr lang="es-ES" sz="2000" dirty="0"/>
              <a:t>los objetivos a alcanzar y los problemas a </a:t>
            </a:r>
            <a:r>
              <a:rPr lang="es-ES" sz="2000" dirty="0" smtClean="0"/>
              <a:t>resolver, a partir de consultar diversas </a:t>
            </a:r>
            <a:r>
              <a:rPr lang="es-ES" sz="2000" dirty="0"/>
              <a:t>fuentes bibliográficas, consultar especialistas en el </a:t>
            </a:r>
            <a:r>
              <a:rPr lang="es-ES" sz="2000" dirty="0" smtClean="0"/>
              <a:t>tema, consultar </a:t>
            </a:r>
            <a:r>
              <a:rPr lang="es-ES" sz="2000" dirty="0"/>
              <a:t>otros trabajos desarrollados sobre el </a:t>
            </a:r>
            <a:r>
              <a:rPr lang="es-ES" sz="2000" dirty="0" err="1" smtClean="0"/>
              <a:t>tema,etc</a:t>
            </a:r>
            <a:r>
              <a:rPr lang="es-ES" sz="2000" dirty="0" smtClean="0"/>
              <a:t>.. </a:t>
            </a:r>
            <a:endParaRPr lang="es-ES_tradnl" sz="2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88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542441" y="1718869"/>
            <a:ext cx="1084881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i="0" u="none" strike="noStrike" baseline="0" dirty="0" smtClean="0"/>
              <a:t>Se define como una situación en la cual un individuo desea hacer algo, pero desconoce el curso de la acción necesaria para lograr lo que quiere (</a:t>
            </a:r>
            <a:r>
              <a:rPr lang="es-ES" sz="2000" i="0" u="none" strike="noStrike" baseline="0" dirty="0" err="1" smtClean="0"/>
              <a:t>Newell</a:t>
            </a:r>
            <a:r>
              <a:rPr lang="es-ES" sz="2000" i="0" u="none" strike="noStrike" baseline="0" dirty="0" smtClean="0"/>
              <a:t> y </a:t>
            </a:r>
            <a:r>
              <a:rPr lang="es-ES" sz="2000" i="0" u="none" strike="noStrike" baseline="0" dirty="0" err="1" smtClean="0"/>
              <a:t>Simon</a:t>
            </a:r>
            <a:r>
              <a:rPr lang="es-ES" sz="2000" i="0" u="none" strike="noStrike" baseline="0" dirty="0" smtClean="0"/>
              <a:t>, 1972), o como una situación en la cual un individuo actúa con el propósito de alcanzar una meta utilizando para ello alguna estrategia en particular (Chi y </a:t>
            </a:r>
            <a:r>
              <a:rPr lang="es-ES_tradnl" sz="2000" i="0" u="none" strike="noStrike" baseline="0" dirty="0" err="1" smtClean="0"/>
              <a:t>Glaser</a:t>
            </a:r>
            <a:r>
              <a:rPr lang="es-ES_tradnl" sz="2000" i="0" u="none" strike="noStrike" baseline="0" dirty="0" smtClean="0"/>
              <a:t>, 1983).</a:t>
            </a:r>
            <a:endParaRPr lang="es-ES_tradnl" sz="2000" dirty="0"/>
          </a:p>
        </p:txBody>
      </p:sp>
      <p:sp>
        <p:nvSpPr>
          <p:cNvPr id="3" name="Rectángulo 2"/>
          <p:cNvSpPr/>
          <p:nvPr/>
        </p:nvSpPr>
        <p:spPr>
          <a:xfrm>
            <a:off x="655357" y="454639"/>
            <a:ext cx="33820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800" b="1" i="0" u="none" strike="noStrike" baseline="0" dirty="0" smtClean="0">
                <a:latin typeface="+mj-lt"/>
              </a:rPr>
              <a:t>¿Qué es un problema?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2" b="89272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39719" y="2676899"/>
            <a:ext cx="2948539" cy="2486025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895" y="3519845"/>
            <a:ext cx="5462856" cy="2477997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6889267" y="3181247"/>
            <a:ext cx="450198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i="0" u="none" strike="noStrike" baseline="0" dirty="0" smtClean="0">
                <a:latin typeface="Times New Roman" panose="02020603050405020304" pitchFamily="18" charset="0"/>
              </a:rPr>
              <a:t>Para</a:t>
            </a:r>
            <a:r>
              <a:rPr lang="es-ES" b="1" i="0" u="none" strike="noStrike" dirty="0" smtClean="0">
                <a:latin typeface="Times New Roman" panose="02020603050405020304" pitchFamily="18" charset="0"/>
              </a:rPr>
              <a:t> que </a:t>
            </a:r>
            <a:r>
              <a:rPr lang="es-ES" b="1" i="0" u="none" strike="noStrike" baseline="0" dirty="0" smtClean="0">
                <a:latin typeface="Times New Roman" panose="02020603050405020304" pitchFamily="18" charset="0"/>
              </a:rPr>
              <a:t>se produzca una situación </a:t>
            </a:r>
            <a:r>
              <a:rPr lang="es-ES" b="1" i="0" u="none" strike="noStrike" baseline="0" dirty="0" err="1" smtClean="0">
                <a:latin typeface="Times New Roman" panose="02020603050405020304" pitchFamily="18" charset="0"/>
              </a:rPr>
              <a:t>problémica</a:t>
            </a:r>
            <a:r>
              <a:rPr lang="es-ES" b="1" i="0" u="none" strike="noStrike" baseline="0" dirty="0" smtClean="0">
                <a:latin typeface="Times New Roman" panose="02020603050405020304" pitchFamily="18" charset="0"/>
              </a:rPr>
              <a:t> debe existir siempre un “reto” o un “desafío” donde el investigador debe ser capaz de aportar algo nuevo, debe ser capaz de agregar algo a la situación para obtener éxito.</a:t>
            </a:r>
            <a:endParaRPr lang="es-ES_tradnl" dirty="0"/>
          </a:p>
        </p:txBody>
      </p:sp>
      <p:sp>
        <p:nvSpPr>
          <p:cNvPr id="10" name="CuadroTexto 9"/>
          <p:cNvSpPr txBox="1"/>
          <p:nvPr/>
        </p:nvSpPr>
        <p:spPr>
          <a:xfrm>
            <a:off x="558749" y="5628510"/>
            <a:ext cx="5203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La diferencia entre ambos estados es el problema</a:t>
            </a:r>
            <a:endParaRPr lang="es-ES_tradnl" b="1" dirty="0"/>
          </a:p>
        </p:txBody>
      </p:sp>
    </p:spTree>
    <p:extLst>
      <p:ext uri="{BB962C8B-B14F-4D97-AF65-F5344CB8AC3E}">
        <p14:creationId xmlns:p14="http://schemas.microsoft.com/office/powerpoint/2010/main" val="381975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141907" y="1383304"/>
            <a:ext cx="404263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i="0" u="none" strike="noStrike" baseline="0" dirty="0" smtClean="0"/>
              <a:t>Se presupone de cierta información: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400" i="0" u="none" strike="noStrike" baseline="0" dirty="0" smtClean="0"/>
              <a:t>Objetivos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400" dirty="0" smtClean="0"/>
              <a:t>D</a:t>
            </a:r>
            <a:r>
              <a:rPr lang="es-ES" sz="2400" i="0" u="none" strike="noStrike" baseline="0" dirty="0" err="1" smtClean="0"/>
              <a:t>atos</a:t>
            </a:r>
            <a:r>
              <a:rPr lang="es-ES" sz="2400" i="0" u="none" strike="noStrike" baseline="0" dirty="0" smtClean="0"/>
              <a:t> y hechos sobre lo que desea resolver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R</a:t>
            </a:r>
            <a:r>
              <a:rPr lang="es-ES" sz="2400" i="0" u="none" strike="noStrike" baseline="0" dirty="0" smtClean="0"/>
              <a:t>estricciones y limites que debe tener la solución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L</a:t>
            </a:r>
            <a:r>
              <a:rPr lang="es-ES" sz="2400" i="0" u="none" strike="noStrike" baseline="0" dirty="0" smtClean="0"/>
              <a:t>os instrumentos, recursos y medios disponibles para la solución del </a:t>
            </a:r>
            <a:r>
              <a:rPr lang="es-ES_tradnl" sz="2400" i="0" u="none" strike="noStrike" baseline="0" dirty="0" smtClean="0"/>
              <a:t>problema</a:t>
            </a:r>
            <a:endParaRPr lang="es-ES_tradnl" sz="2400" dirty="0"/>
          </a:p>
        </p:txBody>
      </p:sp>
      <p:sp>
        <p:nvSpPr>
          <p:cNvPr id="4" name="Rectángulo 3"/>
          <p:cNvSpPr/>
          <p:nvPr/>
        </p:nvSpPr>
        <p:spPr>
          <a:xfrm>
            <a:off x="141908" y="191168"/>
            <a:ext cx="33452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latin typeface="+mj-lt"/>
              </a:rPr>
              <a:t>Solución del problema</a:t>
            </a:r>
            <a:endParaRPr lang="es-ES_tradnl" sz="2800" dirty="0">
              <a:latin typeface="+mj-lt"/>
            </a:endParaRPr>
          </a:p>
        </p:txBody>
      </p:sp>
      <p:grpSp>
        <p:nvGrpSpPr>
          <p:cNvPr id="8" name="Grupo 7"/>
          <p:cNvGrpSpPr/>
          <p:nvPr/>
        </p:nvGrpSpPr>
        <p:grpSpPr>
          <a:xfrm>
            <a:off x="4308529" y="0"/>
            <a:ext cx="7883471" cy="6695268"/>
            <a:chOff x="4308529" y="0"/>
            <a:chExt cx="7883471" cy="6695268"/>
          </a:xfrm>
        </p:grpSpPr>
        <p:pic>
          <p:nvPicPr>
            <p:cNvPr id="7" name="Imagen 6"/>
            <p:cNvPicPr>
              <a:picLocks noChangeAspect="1"/>
            </p:cNvPicPr>
            <p:nvPr/>
          </p:nvPicPr>
          <p:blipFill>
            <a:blip r:embed="rId2">
              <a:lum bright="-20000" contrast="40000"/>
            </a:blip>
            <a:stretch>
              <a:fillRect/>
            </a:stretch>
          </p:blipFill>
          <p:spPr>
            <a:xfrm>
              <a:off x="4308529" y="0"/>
              <a:ext cx="7883471" cy="6695268"/>
            </a:xfrm>
            <a:prstGeom prst="rect">
              <a:avLst/>
            </a:prstGeom>
          </p:spPr>
        </p:pic>
        <p:sp>
          <p:nvSpPr>
            <p:cNvPr id="2" name="CuadroTexto 1"/>
            <p:cNvSpPr txBox="1"/>
            <p:nvPr/>
          </p:nvSpPr>
          <p:spPr>
            <a:xfrm>
              <a:off x="4602997" y="191168"/>
              <a:ext cx="224725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 smtClean="0">
                  <a:solidFill>
                    <a:srgbClr val="FF0000"/>
                  </a:solidFill>
                </a:rPr>
                <a:t>Componentes de un </a:t>
              </a:r>
            </a:p>
            <a:p>
              <a:pPr algn="ctr"/>
              <a:r>
                <a:rPr lang="es-ES" sz="2400" b="1" dirty="0" smtClean="0">
                  <a:solidFill>
                    <a:srgbClr val="FF0000"/>
                  </a:solidFill>
                </a:rPr>
                <a:t>problema</a:t>
              </a:r>
              <a:endParaRPr lang="es-ES_tradnl" sz="24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3506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08916" y="501134"/>
            <a:ext cx="33452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latin typeface="+mj-lt"/>
              </a:rPr>
              <a:t>Solución del problema</a:t>
            </a:r>
            <a:endParaRPr lang="es-ES_tradnl" sz="2800" dirty="0">
              <a:latin typeface="+mj-lt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1048718" y="4561644"/>
            <a:ext cx="529009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i="0" u="none" strike="noStrike" baseline="0" dirty="0" smtClean="0">
                <a:latin typeface="Times New Roman" panose="02020603050405020304" pitchFamily="18" charset="0"/>
              </a:rPr>
              <a:t>¿Cuál alternativa se debe seleccionar para maximizar cierto deseo o preferencia? (toma una decisión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i="0" u="none" strike="noStrike" baseline="0" dirty="0" smtClean="0">
                <a:latin typeface="Times New Roman" panose="02020603050405020304" pitchFamily="18" charset="0"/>
              </a:rPr>
              <a:t>¿Cómo lograr el objetivo, al transitar de un estado de </a:t>
            </a:r>
            <a:r>
              <a:rPr lang="es-ES_tradnl" b="1" i="0" u="none" strike="noStrike" baseline="0" dirty="0" smtClean="0">
                <a:latin typeface="Times New Roman" panose="02020603050405020304" pitchFamily="18" charset="0"/>
              </a:rPr>
              <a:t>insatisfacción a uno deseado? (</a:t>
            </a:r>
            <a:r>
              <a:rPr lang="es-ES" b="1" i="0" u="none" strike="noStrike" baseline="0" dirty="0" smtClean="0">
                <a:latin typeface="Times New Roman" panose="02020603050405020304" pitchFamily="18" charset="0"/>
              </a:rPr>
              <a:t>resolución de un problema</a:t>
            </a:r>
            <a:r>
              <a:rPr lang="es-ES_tradnl" b="1" i="0" u="none" strike="noStrike" baseline="0" dirty="0" smtClean="0">
                <a:latin typeface="Times New Roman" panose="02020603050405020304" pitchFamily="18" charset="0"/>
              </a:rPr>
              <a:t>)</a:t>
            </a:r>
            <a:endParaRPr lang="es-ES_tradnl" dirty="0"/>
          </a:p>
        </p:txBody>
      </p:sp>
      <p:sp>
        <p:nvSpPr>
          <p:cNvPr id="6" name="Rectángulo 5"/>
          <p:cNvSpPr/>
          <p:nvPr/>
        </p:nvSpPr>
        <p:spPr>
          <a:xfrm>
            <a:off x="909233" y="1845546"/>
            <a:ext cx="573954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i="0" u="none" strike="noStrike" baseline="0" dirty="0" smtClean="0">
                <a:latin typeface="Times New Roman" panose="02020603050405020304" pitchFamily="18" charset="0"/>
              </a:rPr>
              <a:t>La toma </a:t>
            </a:r>
            <a:r>
              <a:rPr lang="es-ES" sz="2000" i="0" u="none" strike="noStrike" baseline="0" dirty="0" smtClean="0"/>
              <a:t>de decisiones implica que se efectúe una selección. Ello sugiere que las</a:t>
            </a:r>
            <a:r>
              <a:rPr lang="es-ES" sz="2000" i="0" u="none" strike="noStrike" dirty="0" smtClean="0"/>
              <a:t> a</a:t>
            </a:r>
            <a:r>
              <a:rPr lang="es-ES" sz="2000" i="0" u="none" strike="noStrike" baseline="0" dirty="0" smtClean="0"/>
              <a:t>lternativas existen o serán identificadas.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i="0" u="none" strike="noStrike" baseline="0" dirty="0" smtClean="0"/>
              <a:t>La “resolución” de un problema está dirigida a resolver un problema, o sea a producir un tránsito entre cierta situación existente y una situación deseada. En la resolución de problemas el énfasis se otorga al logro de </a:t>
            </a:r>
            <a:r>
              <a:rPr lang="es-ES_tradnl" sz="2000" i="0" u="none" strike="noStrike" baseline="0" dirty="0" smtClean="0"/>
              <a:t>cierto objetivo.</a:t>
            </a:r>
            <a:endParaRPr lang="es-ES_tradnl" sz="2000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8391" y="0"/>
            <a:ext cx="5084505" cy="665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937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08916" y="501134"/>
            <a:ext cx="20212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latin typeface="+mj-lt"/>
              </a:rPr>
              <a:t>Los objetivos</a:t>
            </a:r>
            <a:endParaRPr lang="es-ES_tradnl" sz="2800" dirty="0">
              <a:latin typeface="+mj-lt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608916" y="2310495"/>
            <a:ext cx="4586831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b="1" dirty="0" smtClean="0"/>
              <a:t>Objetivo</a:t>
            </a:r>
            <a:r>
              <a:rPr lang="es-ES" dirty="0" smtClean="0"/>
              <a:t>. Resultado deseado </a:t>
            </a:r>
            <a:r>
              <a:rPr lang="es-ES" dirty="0"/>
              <a:t>de una actividad que se alcanza o se debe alcanzar en los </a:t>
            </a:r>
            <a:r>
              <a:rPr lang="es-ES" dirty="0" smtClean="0"/>
              <a:t>marcos de </a:t>
            </a:r>
            <a:r>
              <a:rPr lang="es-ES" dirty="0"/>
              <a:t>un periodo de tiempo dado.</a:t>
            </a:r>
            <a:endParaRPr lang="es-ES_tradnl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5621999" y="501134"/>
            <a:ext cx="6570001" cy="632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031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08916" y="501134"/>
            <a:ext cx="35346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latin typeface="+mj-lt"/>
              </a:rPr>
              <a:t>Las tareas investigativas</a:t>
            </a:r>
            <a:endParaRPr lang="es-ES_tradnl" sz="2800" dirty="0">
              <a:latin typeface="+mj-lt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417443" y="4711812"/>
            <a:ext cx="11410122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sz="2000" b="1" dirty="0" smtClean="0"/>
              <a:t>Tareas. </a:t>
            </a:r>
            <a:r>
              <a:rPr lang="es-ES" sz="2000" dirty="0" smtClean="0"/>
              <a:t>Son el conjuntos </a:t>
            </a:r>
            <a:r>
              <a:rPr lang="es-ES" sz="2000" dirty="0"/>
              <a:t>de actividades de investigación </a:t>
            </a:r>
            <a:r>
              <a:rPr lang="es-ES" sz="2000" dirty="0" smtClean="0"/>
              <a:t>que realizar </a:t>
            </a:r>
            <a:r>
              <a:rPr lang="es-ES" sz="2000" dirty="0"/>
              <a:t>el investigador para alcanzar los objetivos propuestos. </a:t>
            </a:r>
            <a:endParaRPr lang="es-ES" sz="2000" dirty="0" smtClean="0"/>
          </a:p>
          <a:p>
            <a:r>
              <a:rPr lang="es-ES" sz="2000" dirty="0" smtClean="0"/>
              <a:t>Se </a:t>
            </a:r>
            <a:r>
              <a:rPr lang="es-ES" sz="2000" dirty="0"/>
              <a:t>formulan </a:t>
            </a:r>
            <a:r>
              <a:rPr lang="es-ES" sz="2000" dirty="0" smtClean="0"/>
              <a:t>de forma </a:t>
            </a:r>
            <a:r>
              <a:rPr lang="es-ES" sz="2000" dirty="0"/>
              <a:t>concreta de manera que garanticen el cumplimiento de los </a:t>
            </a:r>
            <a:r>
              <a:rPr lang="es-ES" sz="2000" dirty="0" smtClean="0"/>
              <a:t>objetivos propuestos.</a:t>
            </a:r>
          </a:p>
          <a:p>
            <a:r>
              <a:rPr lang="es-ES" sz="2000" dirty="0" smtClean="0"/>
              <a:t>Las </a:t>
            </a:r>
            <a:r>
              <a:rPr lang="es-ES" sz="2000" dirty="0"/>
              <a:t>tareas responden a la pregunta ¿qué actividades hay que </a:t>
            </a:r>
            <a:r>
              <a:rPr lang="es-ES" sz="2000" dirty="0" smtClean="0"/>
              <a:t>realizar para </a:t>
            </a:r>
            <a:r>
              <a:rPr lang="es-ES" sz="2000" dirty="0"/>
              <a:t>alcanzar los objetivos </a:t>
            </a:r>
            <a:r>
              <a:rPr lang="es-ES" sz="2000" dirty="0" smtClean="0"/>
              <a:t>propuestos</a:t>
            </a:r>
            <a:r>
              <a:rPr lang="es-ES" sz="2000" dirty="0"/>
              <a:t>?</a:t>
            </a:r>
            <a:endParaRPr lang="es-ES_tradnl" sz="2000" dirty="0"/>
          </a:p>
        </p:txBody>
      </p:sp>
      <p:sp>
        <p:nvSpPr>
          <p:cNvPr id="2" name="Rectángulo 1"/>
          <p:cNvSpPr/>
          <p:nvPr/>
        </p:nvSpPr>
        <p:spPr>
          <a:xfrm>
            <a:off x="1088158" y="1529255"/>
            <a:ext cx="1022257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i="0" u="none" strike="noStrike" baseline="0" dirty="0" smtClean="0"/>
              <a:t>Una vez identificada la Situación </a:t>
            </a:r>
            <a:r>
              <a:rPr lang="es-ES" sz="2400" i="0" u="none" strike="noStrike" baseline="0" dirty="0" err="1" smtClean="0"/>
              <a:t>Problémica</a:t>
            </a:r>
            <a:r>
              <a:rPr lang="es-ES" sz="2400" i="0" u="none" strike="noStrike" baseline="0" dirty="0" smtClean="0"/>
              <a:t>, esclarecido el  problema Científico, delimitado el Objeto de Estudio, precisado el Campo de Acción de la investigación y redactados los Objetivos de la misma, es necesario llevar a cabo tres trabajos</a:t>
            </a:r>
            <a:r>
              <a:rPr lang="es-ES_tradnl" sz="2400" i="0" u="none" strike="noStrike" baseline="0" dirty="0" smtClean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i="0" u="none" strike="noStrike" baseline="0" dirty="0" smtClean="0"/>
              <a:t>Descomponer los objetivos en tareas;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i="0" u="none" strike="noStrike" baseline="0" dirty="0" smtClean="0"/>
              <a:t>Formular la Hipótesis de trabajo;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i="0" u="none" strike="noStrike" baseline="0" dirty="0" smtClean="0"/>
              <a:t>Definir rigurosamente conceptos, términos, variables;</a:t>
            </a:r>
            <a:endParaRPr lang="es-ES_tradnl" sz="2400" dirty="0"/>
          </a:p>
        </p:txBody>
      </p:sp>
    </p:spTree>
    <p:extLst>
      <p:ext uri="{BB962C8B-B14F-4D97-AF65-F5344CB8AC3E}">
        <p14:creationId xmlns:p14="http://schemas.microsoft.com/office/powerpoint/2010/main" val="3110842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43967" y="307309"/>
            <a:ext cx="50908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latin typeface="+mj-lt"/>
              </a:rPr>
              <a:t>La hipótesis o preguntas científicas</a:t>
            </a:r>
            <a:endParaRPr lang="es-ES_tradnl" sz="2800" dirty="0">
              <a:latin typeface="+mj-lt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370822" y="3413183"/>
            <a:ext cx="11098934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sz="2400" b="1" dirty="0" smtClean="0"/>
              <a:t>Ejemplo</a:t>
            </a:r>
          </a:p>
          <a:p>
            <a:endParaRPr lang="es-ES" sz="2400" b="1" dirty="0"/>
          </a:p>
          <a:p>
            <a:r>
              <a:rPr lang="es-ES" sz="2400" b="1" dirty="0" smtClean="0"/>
              <a:t>Se sabe experimentalmente que la ejercitación en la resolución de problemas aumenta el rendimiento docente de los alumnos.</a:t>
            </a:r>
            <a:endParaRPr lang="es-ES_tradnl" sz="2400" dirty="0"/>
          </a:p>
        </p:txBody>
      </p:sp>
      <p:sp>
        <p:nvSpPr>
          <p:cNvPr id="2" name="Rectángulo 1"/>
          <p:cNvSpPr/>
          <p:nvPr/>
        </p:nvSpPr>
        <p:spPr>
          <a:xfrm>
            <a:off x="1191929" y="1155752"/>
            <a:ext cx="982062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dirty="0"/>
              <a:t>La solución de cualquier problema científico implica </a:t>
            </a:r>
            <a:r>
              <a:rPr lang="es-ES" sz="2400" dirty="0" smtClean="0"/>
              <a:t>el planteamiento determinadas </a:t>
            </a:r>
            <a:r>
              <a:rPr lang="es-ES" sz="2400" dirty="0"/>
              <a:t>interrogantes, suposiciones o hipótesis más o </a:t>
            </a:r>
            <a:r>
              <a:rPr lang="es-ES" sz="2400" dirty="0" smtClean="0"/>
              <a:t>menos fundamentadas </a:t>
            </a:r>
            <a:r>
              <a:rPr lang="es-ES" sz="2400" dirty="0"/>
              <a:t>con ayuda de las cuales el investigador intenta explicar </a:t>
            </a:r>
            <a:r>
              <a:rPr lang="es-ES" sz="2400" dirty="0" smtClean="0"/>
              <a:t>aquellos hechos </a:t>
            </a:r>
            <a:r>
              <a:rPr lang="es-ES" sz="2400" dirty="0"/>
              <a:t>que no encajan en la vieja teoría. </a:t>
            </a:r>
            <a:endParaRPr lang="es-ES_tradnl" sz="2400" dirty="0"/>
          </a:p>
        </p:txBody>
      </p:sp>
    </p:spTree>
    <p:extLst>
      <p:ext uri="{BB962C8B-B14F-4D97-AF65-F5344CB8AC3E}">
        <p14:creationId xmlns:p14="http://schemas.microsoft.com/office/powerpoint/2010/main" val="54521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43967" y="307309"/>
            <a:ext cx="50908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latin typeface="+mj-lt"/>
              </a:rPr>
              <a:t>La hipótesis o preguntas científicas</a:t>
            </a:r>
            <a:endParaRPr lang="es-ES_tradnl" sz="2800" dirty="0">
              <a:latin typeface="+mj-lt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329966" y="1248736"/>
            <a:ext cx="9809763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b="1" dirty="0" smtClean="0"/>
              <a:t>Ejemplo</a:t>
            </a:r>
          </a:p>
          <a:p>
            <a:endParaRPr lang="es-ES" b="1" dirty="0"/>
          </a:p>
          <a:p>
            <a:r>
              <a:rPr lang="es-ES" b="1" dirty="0" smtClean="0"/>
              <a:t>Se sabe experimentalmente que la ejercitación en la resolución de problemas aumenta el rendimiento docente de los alumnos.</a:t>
            </a:r>
            <a:endParaRPr lang="es-ES_tradnl" dirty="0"/>
          </a:p>
        </p:txBody>
      </p:sp>
      <p:sp>
        <p:nvSpPr>
          <p:cNvPr id="3" name="Rectángulo 2"/>
          <p:cNvSpPr/>
          <p:nvPr/>
        </p:nvSpPr>
        <p:spPr>
          <a:xfrm>
            <a:off x="143967" y="2867272"/>
            <a:ext cx="4904882" cy="32470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ES" b="1" i="0" u="none" strike="noStrike" baseline="0" dirty="0" smtClean="0"/>
              <a:t> Sin embargo…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i="0" u="none" strike="noStrike" baseline="0" dirty="0" smtClean="0"/>
              <a:t>¿En qué medida se incrementa el rendimiento con respecto a quienes no se </a:t>
            </a:r>
            <a:r>
              <a:rPr lang="es-ES_tradnl" b="1" i="0" u="none" strike="noStrike" baseline="0" dirty="0" smtClean="0"/>
              <a:t>ejercitan?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i="0" u="none" strike="noStrike" baseline="0" dirty="0" smtClean="0"/>
              <a:t>¿En qué momento el rendimiento es máximo?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i="0" u="none" strike="noStrike" baseline="0" dirty="0" smtClean="0"/>
              <a:t>¿Cómo y dónde se debe realizar la ejercitación?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i="0" u="none" strike="noStrike" baseline="0" dirty="0" smtClean="0"/>
              <a:t>¿Qué tipos de problemas son más recomendables resolver?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i="0" u="none" strike="noStrike" baseline="0" dirty="0" smtClean="0"/>
              <a:t>¿Qué grado de dificultad deben tener estos problemas?</a:t>
            </a:r>
            <a:endParaRPr lang="es-ES_tradnl" dirty="0"/>
          </a:p>
        </p:txBody>
      </p:sp>
      <p:sp>
        <p:nvSpPr>
          <p:cNvPr id="6" name="Rectángulo 5"/>
          <p:cNvSpPr/>
          <p:nvPr/>
        </p:nvSpPr>
        <p:spPr>
          <a:xfrm>
            <a:off x="6059836" y="3084248"/>
            <a:ext cx="5827363" cy="31700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i="0" u="none" strike="noStrike" baseline="0" dirty="0" smtClean="0"/>
              <a:t>Aumenta el rendimiento del alumno en más del 50% con respecto a quienes no se ejercitan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i="0" u="none" strike="noStrike" baseline="0" dirty="0" smtClean="0"/>
              <a:t>El aumento del rendimiento es máximo días antes de la conclusión del proyecto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i="0" u="none" strike="noStrike" baseline="0" dirty="0" smtClean="0"/>
              <a:t>Debe realizarse de forma independiente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i="0" u="none" strike="noStrike" baseline="0" dirty="0" smtClean="0"/>
              <a:t>Debe basarse fundamentalmente en problemas parcialmente</a:t>
            </a:r>
            <a:r>
              <a:rPr lang="es-ES" b="1" i="0" u="none" strike="noStrike" dirty="0" smtClean="0"/>
              <a:t> conocidos</a:t>
            </a:r>
            <a:endParaRPr lang="es-ES" b="1" i="0" u="none" strike="noStrike" baseline="0" dirty="0" smtClean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i="0" u="none" strike="noStrike" baseline="0" dirty="0" smtClean="0"/>
              <a:t>Debe ser con problemas de un grado de dificultad ligeramente superior al que </a:t>
            </a:r>
            <a:r>
              <a:rPr lang="es-ES_tradnl" b="1" i="0" u="none" strike="noStrike" baseline="0" dirty="0" smtClean="0"/>
              <a:t>usualmente resolvió durante el curso</a:t>
            </a:r>
            <a:endParaRPr lang="es-ES_tradnl" dirty="0"/>
          </a:p>
        </p:txBody>
      </p:sp>
      <p:sp>
        <p:nvSpPr>
          <p:cNvPr id="7" name="Flecha a la derecha con muesca 6"/>
          <p:cNvSpPr/>
          <p:nvPr/>
        </p:nvSpPr>
        <p:spPr>
          <a:xfrm>
            <a:off x="4667349" y="4250842"/>
            <a:ext cx="1568909" cy="836909"/>
          </a:xfrm>
          <a:prstGeom prst="notched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Respondo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904543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43967" y="307309"/>
            <a:ext cx="18434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latin typeface="+mj-lt"/>
              </a:rPr>
              <a:t>La hipótesis</a:t>
            </a:r>
            <a:endParaRPr lang="es-ES_tradnl" sz="2800" dirty="0">
              <a:latin typeface="+mj-lt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717402" y="1100511"/>
            <a:ext cx="10255398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b="1" dirty="0"/>
              <a:t>Hipótesis Científica </a:t>
            </a:r>
            <a:r>
              <a:rPr lang="es-ES" dirty="0"/>
              <a:t>es un conocimiento probable, </a:t>
            </a:r>
            <a:r>
              <a:rPr lang="es-ES" sz="2000" dirty="0"/>
              <a:t>científicamente</a:t>
            </a:r>
            <a:r>
              <a:rPr lang="es-ES" dirty="0"/>
              <a:t> fundamentado de la realidad, que </a:t>
            </a:r>
            <a:r>
              <a:rPr lang="es-ES" dirty="0" smtClean="0"/>
              <a:t>da explicaciones </a:t>
            </a:r>
            <a:r>
              <a:rPr lang="es-ES" dirty="0"/>
              <a:t>posibles al Problema Científico planteado en la investigación y que plantea las </a:t>
            </a:r>
            <a:r>
              <a:rPr lang="es-ES" dirty="0" smtClean="0"/>
              <a:t>posibles leyes, relaciones</a:t>
            </a:r>
            <a:r>
              <a:rPr lang="es-ES" dirty="0"/>
              <a:t>, cualidades, etc., que se piensa encontrar en el objeto de estudio.</a:t>
            </a:r>
            <a:endParaRPr lang="es-ES_tradnl" dirty="0"/>
          </a:p>
        </p:txBody>
      </p:sp>
      <p:sp>
        <p:nvSpPr>
          <p:cNvPr id="8" name="Rectángulo 7"/>
          <p:cNvSpPr/>
          <p:nvPr/>
        </p:nvSpPr>
        <p:spPr>
          <a:xfrm>
            <a:off x="717402" y="2578556"/>
            <a:ext cx="1049604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000" b="1" i="0" u="none" strike="noStrike" baseline="0" dirty="0" smtClean="0"/>
              <a:t>Tipo</a:t>
            </a:r>
            <a:r>
              <a:rPr lang="es-ES_tradnl" sz="2000" b="1" dirty="0" smtClean="0"/>
              <a:t>s de hipótesis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b="1" i="0" u="none" strike="noStrike" baseline="0" dirty="0" smtClean="0"/>
              <a:t>Generales.</a:t>
            </a:r>
            <a:r>
              <a:rPr lang="es-ES_tradnl" sz="2000" b="1" i="0" u="none" strike="noStrike" dirty="0" smtClean="0"/>
              <a:t> </a:t>
            </a:r>
            <a:r>
              <a:rPr lang="es-ES" sz="2000" dirty="0" smtClean="0"/>
              <a:t>Es </a:t>
            </a:r>
            <a:r>
              <a:rPr lang="es-ES" sz="2000" dirty="0"/>
              <a:t>un supuesto científico relativo a las causas, leyes </a:t>
            </a:r>
            <a:r>
              <a:rPr lang="es-ES" sz="2000" dirty="0" smtClean="0"/>
              <a:t>y regularidades </a:t>
            </a:r>
            <a:r>
              <a:rPr lang="es-ES" sz="2000" dirty="0"/>
              <a:t>de los fenómenos naturales y sociales, así como a las regularidades </a:t>
            </a:r>
            <a:r>
              <a:rPr lang="es-ES" sz="2000" dirty="0" smtClean="0"/>
              <a:t>de la </a:t>
            </a:r>
            <a:r>
              <a:rPr lang="es-ES" sz="2000" dirty="0"/>
              <a:t>actividad mental del hombre.</a:t>
            </a:r>
            <a:endParaRPr lang="es-ES_tradnl" sz="2000" i="0" u="none" strike="noStrike" baseline="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b="1" i="0" u="none" strike="noStrike" baseline="0" dirty="0" smtClean="0"/>
              <a:t>Particulares.</a:t>
            </a:r>
            <a:r>
              <a:rPr lang="es-ES_tradnl" sz="2000" i="0" u="none" strike="noStrike" baseline="0" dirty="0" smtClean="0"/>
              <a:t> </a:t>
            </a:r>
            <a:r>
              <a:rPr lang="es-ES" sz="2000" dirty="0"/>
              <a:t>es un supuesto científico sobre las causas, leyes, orígenes </a:t>
            </a:r>
            <a:r>
              <a:rPr lang="es-ES" sz="2000" dirty="0" smtClean="0"/>
              <a:t>y </a:t>
            </a:r>
            <a:r>
              <a:rPr lang="es-ES_tradnl" sz="2000" dirty="0" smtClean="0"/>
              <a:t>regularidades </a:t>
            </a:r>
            <a:r>
              <a:rPr lang="es-ES_tradnl" sz="2000" dirty="0"/>
              <a:t>de un conjunto específico de objetos o fenómenos de la </a:t>
            </a:r>
            <a:r>
              <a:rPr lang="es-ES_tradnl" sz="2000" dirty="0" smtClean="0"/>
              <a:t>naturaleza y de la sociedad.</a:t>
            </a:r>
          </a:p>
          <a:p>
            <a:pPr lvl="2"/>
            <a:r>
              <a:rPr lang="es-ES" sz="2000" dirty="0"/>
              <a:t> </a:t>
            </a:r>
            <a:r>
              <a:rPr lang="es-ES" sz="2000" dirty="0" smtClean="0"/>
              <a:t>Por ejemplo en CC existen hipótesis sobre el </a:t>
            </a:r>
            <a:r>
              <a:rPr lang="es-ES" sz="2000" dirty="0"/>
              <a:t>surgimiento de </a:t>
            </a:r>
            <a:r>
              <a:rPr lang="es-ES" sz="2000" dirty="0" smtClean="0"/>
              <a:t>los virus </a:t>
            </a:r>
            <a:r>
              <a:rPr lang="es-ES" sz="2000" dirty="0"/>
              <a:t>de computación, sobre la estructura y el comportamiento de los sistemas </a:t>
            </a:r>
            <a:r>
              <a:rPr lang="es-ES" sz="2000" dirty="0" smtClean="0"/>
              <a:t>de comunicación</a:t>
            </a:r>
            <a:r>
              <a:rPr lang="es-ES" sz="2000" dirty="0"/>
              <a:t>, sobre la eficiencia de los sistemas </a:t>
            </a:r>
            <a:r>
              <a:rPr lang="es-ES" sz="2000" dirty="0" smtClean="0"/>
              <a:t>operativos </a:t>
            </a:r>
            <a:r>
              <a:rPr lang="es-ES" sz="2000" dirty="0"/>
              <a:t>y </a:t>
            </a:r>
            <a:r>
              <a:rPr lang="es-ES" sz="2000" dirty="0" smtClean="0"/>
              <a:t>otras.</a:t>
            </a:r>
            <a:endParaRPr lang="es-ES_tradnl" sz="2000" dirty="0"/>
          </a:p>
        </p:txBody>
      </p:sp>
    </p:spTree>
    <p:extLst>
      <p:ext uri="{BB962C8B-B14F-4D97-AF65-F5344CB8AC3E}">
        <p14:creationId xmlns:p14="http://schemas.microsoft.com/office/powerpoint/2010/main" val="217964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7203" y="1306378"/>
            <a:ext cx="9866661" cy="2103249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s-ES_tradnl" sz="2000" dirty="0"/>
              <a:t> Conocimiento probable.</a:t>
            </a:r>
          </a:p>
          <a:p>
            <a:pPr>
              <a:buClr>
                <a:schemeClr val="tx1"/>
              </a:buClr>
            </a:pPr>
            <a:r>
              <a:rPr lang="es-ES_tradnl" sz="2000" dirty="0"/>
              <a:t> </a:t>
            </a:r>
            <a:r>
              <a:rPr lang="es-ES_tradnl" sz="2000" dirty="0" smtClean="0"/>
              <a:t>Fundamentación </a:t>
            </a:r>
            <a:r>
              <a:rPr lang="es-ES_tradnl" sz="2000" dirty="0"/>
              <a:t>Empírico/Teórica.</a:t>
            </a:r>
          </a:p>
          <a:p>
            <a:pPr>
              <a:buClr>
                <a:schemeClr val="tx1"/>
              </a:buClr>
            </a:pPr>
            <a:r>
              <a:rPr lang="es-ES_tradnl" sz="2000" dirty="0"/>
              <a:t> Respuesta tentativa al problema de la investigación.</a:t>
            </a:r>
          </a:p>
          <a:p>
            <a:pPr>
              <a:buClr>
                <a:schemeClr val="tx1"/>
              </a:buClr>
            </a:pPr>
            <a:r>
              <a:rPr lang="es-ES_tradnl" sz="2000" dirty="0"/>
              <a:t> S</a:t>
            </a:r>
            <a:r>
              <a:rPr lang="es-ES" sz="2000" dirty="0"/>
              <a:t>e derivan de la consulta a la información especializada.</a:t>
            </a:r>
          </a:p>
          <a:p>
            <a:pPr>
              <a:buClr>
                <a:schemeClr val="tx1"/>
              </a:buClr>
            </a:pPr>
            <a:r>
              <a:rPr lang="es-ES" sz="2000" dirty="0"/>
              <a:t> Tienen que cumplir ciertos requisitos.</a:t>
            </a:r>
            <a:endParaRPr lang="es-ES_tradnl" sz="2000" dirty="0"/>
          </a:p>
        </p:txBody>
      </p:sp>
      <p:sp>
        <p:nvSpPr>
          <p:cNvPr id="4" name="Rectángulo 3"/>
          <p:cNvSpPr/>
          <p:nvPr/>
        </p:nvSpPr>
        <p:spPr>
          <a:xfrm>
            <a:off x="143967" y="307309"/>
            <a:ext cx="184345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 smtClean="0">
                <a:latin typeface="+mj-lt"/>
              </a:rPr>
              <a:t>La hipótesis</a:t>
            </a:r>
            <a:endParaRPr lang="es-ES_tradnl" sz="2800" dirty="0">
              <a:latin typeface="+mj-lt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02443" y="4113352"/>
            <a:ext cx="9696180" cy="205707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1"/>
              </a:buClr>
              <a:buNone/>
            </a:pPr>
            <a:r>
              <a:rPr lang="es-ES_tradnl" sz="2400" b="1" dirty="0" smtClean="0"/>
              <a:t>Punto de vista estructural de la hipótesis</a:t>
            </a:r>
          </a:p>
          <a:p>
            <a:pPr marL="609600" indent="-609600">
              <a:buClr>
                <a:schemeClr val="tx1"/>
              </a:buClr>
            </a:pPr>
            <a:r>
              <a:rPr lang="es-ES_tradnl" sz="2000" dirty="0" smtClean="0"/>
              <a:t>Las </a:t>
            </a:r>
            <a:r>
              <a:rPr lang="es-ES_tradnl" sz="2000" b="1" dirty="0" smtClean="0"/>
              <a:t>unidades de observación </a:t>
            </a:r>
            <a:r>
              <a:rPr lang="es-ES" sz="2000" dirty="0" smtClean="0"/>
              <a:t>(</a:t>
            </a:r>
            <a:r>
              <a:rPr lang="es-ES_tradnl" sz="2000" dirty="0" smtClean="0"/>
              <a:t>personas, grupos, objetos, actividades, países, instituciones y acontecimientos)</a:t>
            </a:r>
          </a:p>
          <a:p>
            <a:pPr marL="609600" indent="-609600">
              <a:buClr>
                <a:schemeClr val="tx1"/>
              </a:buClr>
            </a:pPr>
            <a:r>
              <a:rPr lang="es-ES_tradnl" sz="2000" dirty="0" smtClean="0"/>
              <a:t>Las </a:t>
            </a:r>
            <a:r>
              <a:rPr lang="es-ES_tradnl" sz="2000" b="1" dirty="0" smtClean="0"/>
              <a:t>variable</a:t>
            </a:r>
            <a:r>
              <a:rPr lang="es-ES_tradnl" sz="2000" dirty="0" smtClean="0"/>
              <a:t>s (propiedades, aspectos o características cuantitativas o cualitativas).</a:t>
            </a:r>
          </a:p>
          <a:p>
            <a:pPr marL="609600" indent="-609600">
              <a:buClr>
                <a:schemeClr val="tx1"/>
              </a:buClr>
            </a:pPr>
            <a:r>
              <a:rPr lang="es-ES_tradnl" sz="2000" dirty="0" smtClean="0"/>
              <a:t>Los </a:t>
            </a:r>
            <a:r>
              <a:rPr lang="es-ES_tradnl" sz="2000" b="1" dirty="0" smtClean="0"/>
              <a:t>términos lógicos </a:t>
            </a:r>
            <a:r>
              <a:rPr lang="es-ES_tradnl" sz="2000" dirty="0" smtClean="0"/>
              <a:t>(relacionan las unidades de observación con las variables o a estas últimas entre sí).</a:t>
            </a:r>
            <a:r>
              <a:rPr lang="es-ES" sz="2000" dirty="0" smtClean="0"/>
              <a:t> </a:t>
            </a:r>
            <a:endParaRPr lang="es-ES_tradnl" sz="2000" dirty="0"/>
          </a:p>
        </p:txBody>
      </p:sp>
    </p:spTree>
    <p:extLst>
      <p:ext uri="{BB962C8B-B14F-4D97-AF65-F5344CB8AC3E}">
        <p14:creationId xmlns:p14="http://schemas.microsoft.com/office/powerpoint/2010/main" val="604629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15871" y="115134"/>
            <a:ext cx="10525932" cy="608012"/>
          </a:xfrm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normAutofit/>
          </a:bodyPr>
          <a:lstStyle/>
          <a:p>
            <a:r>
              <a:rPr lang="es-ES_tradnl" sz="2400" dirty="0" smtClean="0">
                <a:latin typeface="+mn-lt"/>
              </a:rPr>
              <a:t>Ejemplo de la vista estructural de la hipótesis.</a:t>
            </a:r>
            <a:endParaRPr lang="es-ES_tradnl" sz="2400" dirty="0">
              <a:latin typeface="+mn-lt"/>
            </a:endParaRPr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21784" y="854668"/>
            <a:ext cx="6232901" cy="1857535"/>
          </a:xfrm>
        </p:spPr>
        <p:txBody>
          <a:bodyPr>
            <a:normAutofit lnSpcReduction="10000"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s-ES_tradnl" sz="2000" b="1" dirty="0" smtClean="0"/>
              <a:t>Ejemplo: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s-ES_tradnl" sz="2000" dirty="0" smtClean="0"/>
              <a:t>“Sí </a:t>
            </a:r>
            <a:r>
              <a:rPr lang="es-ES_tradnl" sz="2000" dirty="0"/>
              <a:t>se estudia regularmente se aprueba el examen</a:t>
            </a:r>
            <a:r>
              <a:rPr lang="es-ES_tradnl" sz="2000" dirty="0" smtClean="0"/>
              <a:t>.”</a:t>
            </a:r>
            <a:endParaRPr lang="es-ES_tradnl" sz="2000" dirty="0"/>
          </a:p>
          <a:p>
            <a:pPr marL="0" indent="0">
              <a:buClr>
                <a:schemeClr val="tx1"/>
              </a:buClr>
              <a:buNone/>
            </a:pPr>
            <a:r>
              <a:rPr lang="es-ES_tradnl" sz="2000" b="1" dirty="0"/>
              <a:t>Unidad de observación: </a:t>
            </a:r>
            <a:r>
              <a:rPr lang="es-ES_tradnl" sz="2000" dirty="0"/>
              <a:t>los estudiantes</a:t>
            </a:r>
            <a:r>
              <a:rPr lang="es-ES" sz="2000" dirty="0" smtClean="0"/>
              <a:t>.</a:t>
            </a:r>
            <a:endParaRPr lang="es-ES" sz="2000" dirty="0"/>
          </a:p>
          <a:p>
            <a:pPr marL="0" indent="0">
              <a:buClr>
                <a:schemeClr val="tx1"/>
              </a:buClr>
              <a:buNone/>
            </a:pPr>
            <a:r>
              <a:rPr lang="es-ES_tradnl" sz="2000" b="1" dirty="0"/>
              <a:t>Las variables: </a:t>
            </a:r>
            <a:r>
              <a:rPr lang="es-ES_tradnl" sz="2000" dirty="0"/>
              <a:t>“estudio regular” y “aprobar el examen”</a:t>
            </a:r>
            <a:r>
              <a:rPr lang="es-ES" sz="2000" dirty="0" smtClean="0"/>
              <a:t>.</a:t>
            </a:r>
            <a:endParaRPr lang="es-ES" sz="2000" dirty="0"/>
          </a:p>
          <a:p>
            <a:pPr marL="0" indent="0">
              <a:buClr>
                <a:schemeClr val="tx1"/>
              </a:buClr>
              <a:buNone/>
            </a:pPr>
            <a:r>
              <a:rPr lang="es-ES_tradnl" sz="2000" b="1" dirty="0"/>
              <a:t>Término lógico: </a:t>
            </a:r>
            <a:r>
              <a:rPr lang="es-ES_tradnl" sz="2000" dirty="0"/>
              <a:t>sí-entonces</a:t>
            </a:r>
          </a:p>
        </p:txBody>
      </p:sp>
      <p:sp>
        <p:nvSpPr>
          <p:cNvPr id="2" name="Rectángulo 1"/>
          <p:cNvSpPr/>
          <p:nvPr/>
        </p:nvSpPr>
        <p:spPr>
          <a:xfrm>
            <a:off x="1221784" y="3106483"/>
            <a:ext cx="7726017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000" b="1" dirty="0" smtClean="0"/>
              <a:t>Ejemplo:</a:t>
            </a:r>
          </a:p>
          <a:p>
            <a:r>
              <a:rPr lang="es-ES_tradnl" sz="2000" dirty="0" smtClean="0"/>
              <a:t>“El ataques de intrusos a una red se resuelven con los sistemas de seguridad eficiente y eficaces”.</a:t>
            </a:r>
          </a:p>
          <a:p>
            <a:pPr>
              <a:buClr>
                <a:schemeClr val="tx1"/>
              </a:buClr>
            </a:pPr>
            <a:endParaRPr lang="es-ES_tradnl" sz="2000" b="1" dirty="0" smtClean="0"/>
          </a:p>
          <a:p>
            <a:pPr>
              <a:buClr>
                <a:schemeClr val="tx1"/>
              </a:buClr>
            </a:pPr>
            <a:r>
              <a:rPr lang="es-ES_tradnl" sz="2000" b="1" dirty="0" smtClean="0"/>
              <a:t>Unidad </a:t>
            </a:r>
            <a:r>
              <a:rPr lang="es-ES_tradnl" sz="2000" b="1" dirty="0"/>
              <a:t>de observación: </a:t>
            </a:r>
            <a:r>
              <a:rPr lang="es-ES_tradnl" sz="2000" dirty="0" smtClean="0"/>
              <a:t>ataques informáticos</a:t>
            </a:r>
            <a:r>
              <a:rPr lang="es-ES" sz="2000" b="1" dirty="0" smtClean="0"/>
              <a:t>.</a:t>
            </a:r>
          </a:p>
          <a:p>
            <a:pPr>
              <a:buClr>
                <a:schemeClr val="tx1"/>
              </a:buClr>
            </a:pPr>
            <a:endParaRPr lang="es-ES" sz="2000" b="1" dirty="0"/>
          </a:p>
          <a:p>
            <a:pPr>
              <a:buClr>
                <a:schemeClr val="tx1"/>
              </a:buClr>
            </a:pPr>
            <a:r>
              <a:rPr lang="es-ES_tradnl" sz="2000" b="1" dirty="0"/>
              <a:t>Las variables: </a:t>
            </a:r>
            <a:r>
              <a:rPr lang="es-ES_tradnl" sz="2000" dirty="0" smtClean="0"/>
              <a:t>“sistemas de seguridad” y “ataques a la red”</a:t>
            </a:r>
            <a:r>
              <a:rPr lang="es-ES" sz="2000" dirty="0" smtClean="0"/>
              <a:t>.</a:t>
            </a:r>
          </a:p>
          <a:p>
            <a:pPr>
              <a:buClr>
                <a:schemeClr val="tx1"/>
              </a:buClr>
            </a:pPr>
            <a:endParaRPr lang="es-ES" sz="2000" b="1" dirty="0"/>
          </a:p>
          <a:p>
            <a:pPr>
              <a:buClr>
                <a:schemeClr val="tx1"/>
              </a:buClr>
            </a:pPr>
            <a:r>
              <a:rPr lang="es-ES_tradnl" sz="2000" b="1" dirty="0"/>
              <a:t>Término lógico: </a:t>
            </a:r>
            <a:r>
              <a:rPr lang="es-ES_tradnl" sz="2000" dirty="0"/>
              <a:t>sí-entonces</a:t>
            </a:r>
          </a:p>
          <a:p>
            <a:endParaRPr lang="es-ES_tradnl" sz="2000" b="1" dirty="0"/>
          </a:p>
          <a:p>
            <a:endParaRPr lang="es-ES_tradnl" sz="2000" b="1" dirty="0"/>
          </a:p>
        </p:txBody>
      </p:sp>
    </p:spTree>
    <p:extLst>
      <p:ext uri="{BB962C8B-B14F-4D97-AF65-F5344CB8AC3E}">
        <p14:creationId xmlns:p14="http://schemas.microsoft.com/office/powerpoint/2010/main" val="2499610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52400" y="0"/>
            <a:ext cx="8229600" cy="608012"/>
          </a:xfrm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normAutofit/>
          </a:bodyPr>
          <a:lstStyle/>
          <a:p>
            <a:r>
              <a:rPr lang="es-ES_tradnl" sz="2400" dirty="0" smtClean="0">
                <a:latin typeface="+mn-lt"/>
              </a:rPr>
              <a:t>Requisitos de la hipótesis.</a:t>
            </a:r>
            <a:endParaRPr lang="es-ES_tradnl" sz="2400" dirty="0">
              <a:latin typeface="+mn-lt"/>
            </a:endParaRPr>
          </a:p>
        </p:txBody>
      </p:sp>
      <p:sp>
        <p:nvSpPr>
          <p:cNvPr id="237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3217" y="974132"/>
            <a:ext cx="10889549" cy="4992715"/>
          </a:xfrm>
        </p:spPr>
        <p:txBody>
          <a:bodyPr>
            <a:noAutofit/>
          </a:bodyPr>
          <a:lstStyle/>
          <a:p>
            <a:pPr marL="457200" indent="-457200">
              <a:buClr>
                <a:schemeClr val="tx1"/>
              </a:buClr>
            </a:pPr>
            <a:r>
              <a:rPr lang="es-ES" sz="2400" dirty="0"/>
              <a:t>Debe estar en correspondencia con los principios teóricos establecidos por la ciencia, aunque puede contradecir en ocasiones a viejas teorías.</a:t>
            </a:r>
          </a:p>
          <a:p>
            <a:pPr marL="457200" indent="-457200">
              <a:buClr>
                <a:schemeClr val="tx1"/>
              </a:buClr>
            </a:pPr>
            <a:r>
              <a:rPr lang="es-ES" sz="2400" dirty="0"/>
              <a:t>No puede tener contradicción con los hechos científicamente demostrados.</a:t>
            </a:r>
          </a:p>
          <a:p>
            <a:pPr marL="457200" indent="-457200">
              <a:buClr>
                <a:schemeClr val="tx1"/>
              </a:buClr>
            </a:pPr>
            <a:r>
              <a:rPr lang="es-ES" sz="2400" dirty="0"/>
              <a:t>Debe tener una fundamentación teórica o un basamento empírico fuerte</a:t>
            </a:r>
            <a:r>
              <a:rPr lang="es-ES" sz="2400" dirty="0" smtClean="0"/>
              <a:t>.</a:t>
            </a:r>
          </a:p>
          <a:p>
            <a:pPr marL="457200" indent="-457200">
              <a:buClr>
                <a:schemeClr val="tx1"/>
              </a:buClr>
            </a:pPr>
            <a:r>
              <a:rPr lang="es-ES" sz="2400" dirty="0" smtClean="0"/>
              <a:t>No debe tener contradicciones internas, o sea, debe tener consistencia lógica.</a:t>
            </a:r>
          </a:p>
          <a:p>
            <a:pPr marL="457200" indent="-457200">
              <a:buClr>
                <a:schemeClr val="tx1"/>
              </a:buClr>
            </a:pPr>
            <a:r>
              <a:rPr lang="es-ES" sz="2400" dirty="0" smtClean="0"/>
              <a:t>Debe tener una formulación semántica adecuada.</a:t>
            </a:r>
          </a:p>
          <a:p>
            <a:pPr marL="457200" indent="-457200">
              <a:buClr>
                <a:schemeClr val="tx1"/>
              </a:buClr>
            </a:pPr>
            <a:r>
              <a:rPr lang="es-ES" sz="2400" dirty="0" smtClean="0"/>
              <a:t>Debe tener capacidad de información.</a:t>
            </a:r>
          </a:p>
          <a:p>
            <a:pPr marL="457200" indent="-457200">
              <a:buClr>
                <a:schemeClr val="tx1"/>
              </a:buClr>
            </a:pPr>
            <a:r>
              <a:rPr lang="es-ES" sz="2400" dirty="0" smtClean="0"/>
              <a:t>Debe tener capacidad de predicción.</a:t>
            </a:r>
          </a:p>
          <a:p>
            <a:pPr marL="457200" indent="-457200">
              <a:buClr>
                <a:schemeClr val="tx1"/>
              </a:buClr>
            </a:pPr>
            <a:r>
              <a:rPr lang="es-ES" sz="2400" dirty="0" smtClean="0"/>
              <a:t>Debe ser </a:t>
            </a:r>
            <a:r>
              <a:rPr lang="es-ES_tradnl" sz="2400" dirty="0" smtClean="0"/>
              <a:t>específica o susceptible de especificación.</a:t>
            </a:r>
            <a:r>
              <a:rPr lang="es-ES" sz="2400" dirty="0" smtClean="0"/>
              <a:t> </a:t>
            </a:r>
          </a:p>
          <a:p>
            <a:pPr marL="457200" indent="-457200">
              <a:buClr>
                <a:schemeClr val="tx1"/>
              </a:buClr>
            </a:pPr>
            <a:r>
              <a:rPr lang="es-ES" sz="2400" dirty="0" smtClean="0"/>
              <a:t>Debe tener posibilidad de confirmación experimental.</a:t>
            </a:r>
          </a:p>
          <a:p>
            <a:pPr marL="457200" indent="-457200">
              <a:buClr>
                <a:schemeClr val="tx1"/>
              </a:buClr>
            </a:pPr>
            <a:endParaRPr lang="es-ES" sz="2400" dirty="0" smtClean="0"/>
          </a:p>
          <a:p>
            <a:pPr marL="457200" indent="-457200">
              <a:buClr>
                <a:schemeClr val="tx1"/>
              </a:buClr>
            </a:pPr>
            <a:endParaRPr lang="es-ES_tradnl" sz="2400" dirty="0"/>
          </a:p>
        </p:txBody>
      </p:sp>
    </p:spTree>
    <p:extLst>
      <p:ext uri="{BB962C8B-B14F-4D97-AF65-F5344CB8AC3E}">
        <p14:creationId xmlns:p14="http://schemas.microsoft.com/office/powerpoint/2010/main" val="1383699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185980"/>
            <a:ext cx="8229600" cy="1112837"/>
          </a:xfrm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normAutofit/>
          </a:bodyPr>
          <a:lstStyle/>
          <a:p>
            <a:r>
              <a:rPr lang="es-ES_tradnl" sz="2400" b="1" dirty="0" smtClean="0">
                <a:latin typeface="+mn-lt"/>
              </a:rPr>
              <a:t>Tipos de hipótesis</a:t>
            </a:r>
            <a:endParaRPr lang="es-ES_tradnl" sz="2400" b="1" dirty="0">
              <a:latin typeface="+mn-lt"/>
            </a:endParaRPr>
          </a:p>
        </p:txBody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10564" y="1113953"/>
            <a:ext cx="10086222" cy="2148371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s-ES" sz="2000" dirty="0"/>
              <a:t> </a:t>
            </a:r>
            <a:r>
              <a:rPr lang="es-ES" sz="2000" b="1" dirty="0"/>
              <a:t>Hipótesis descriptivas</a:t>
            </a:r>
            <a:r>
              <a:rPr lang="es-ES" sz="2000" b="1" dirty="0" smtClean="0"/>
              <a:t>. 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es-ES_tradnl" sz="2000" dirty="0" smtClean="0">
                <a:effectLst/>
              </a:rPr>
              <a:t>Especifican el valor de variables que van a observarse en un contexto</a:t>
            </a:r>
            <a:r>
              <a:rPr lang="es-ES" sz="2000" dirty="0" smtClean="0"/>
              <a:t>. Reflejan</a:t>
            </a:r>
            <a:r>
              <a:rPr lang="es-ES_tradnl" sz="2000" dirty="0" smtClean="0"/>
              <a:t> el comportamiento de una variable con respecto a una unidad de observación.</a:t>
            </a:r>
            <a:r>
              <a:rPr lang="es-ES" sz="2000" dirty="0" smtClean="0"/>
              <a:t> 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es-ES" sz="2000" dirty="0" smtClean="0"/>
              <a:t>Ejemplo:</a:t>
            </a:r>
          </a:p>
          <a:p>
            <a:pPr marL="914400" lvl="2" indent="0">
              <a:buClr>
                <a:schemeClr val="tx1"/>
              </a:buClr>
              <a:buNone/>
            </a:pPr>
            <a:r>
              <a:rPr lang="es-ES" dirty="0" smtClean="0"/>
              <a:t>“</a:t>
            </a:r>
            <a:r>
              <a:rPr lang="es-ES_tradnl" dirty="0" smtClean="0"/>
              <a:t>El número de ataques a la red y los sistemas computacionales disminuirá en un 20% en el próximo semestre”</a:t>
            </a:r>
            <a:r>
              <a:rPr lang="es-ES_tradnl" b="1" dirty="0" smtClean="0">
                <a:latin typeface="Arial" panose="020B0604020202020204" pitchFamily="34" charset="0"/>
              </a:rPr>
              <a:t>.</a:t>
            </a:r>
          </a:p>
          <a:p>
            <a:pPr marL="457200" lvl="1" indent="0">
              <a:buClr>
                <a:schemeClr val="tx1"/>
              </a:buClr>
            </a:pPr>
            <a:endParaRPr lang="es-ES" sz="2000" b="1" dirty="0" smtClean="0"/>
          </a:p>
          <a:p>
            <a:pPr marL="0" indent="0">
              <a:buClr>
                <a:schemeClr val="tx1"/>
              </a:buClr>
            </a:pPr>
            <a:endParaRPr lang="es-ES_tradnl" sz="2000" dirty="0"/>
          </a:p>
        </p:txBody>
      </p:sp>
      <p:sp>
        <p:nvSpPr>
          <p:cNvPr id="2" name="Rectángulo 1"/>
          <p:cNvSpPr/>
          <p:nvPr/>
        </p:nvSpPr>
        <p:spPr>
          <a:xfrm>
            <a:off x="1010564" y="3572726"/>
            <a:ext cx="10086222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ES" sz="2000" b="1" dirty="0" smtClean="0"/>
              <a:t>Hipótesis </a:t>
            </a:r>
            <a:r>
              <a:rPr lang="es-ES" sz="2000" b="1" dirty="0" err="1" smtClean="0"/>
              <a:t>correlacionales</a:t>
            </a:r>
            <a:r>
              <a:rPr lang="es-ES" sz="2000" b="1" dirty="0" smtClean="0"/>
              <a:t>.</a:t>
            </a:r>
          </a:p>
          <a:p>
            <a:pPr lvl="1">
              <a:buClr>
                <a:schemeClr val="tx1"/>
              </a:buClr>
            </a:pPr>
            <a:r>
              <a:rPr lang="es-ES" sz="2000" dirty="0" smtClean="0"/>
              <a:t> Especifican las relaciones entre dos o más variables, estableciendo la asociación entre ellas. Pueden o no indicar cómo están asociadas.</a:t>
            </a:r>
          </a:p>
          <a:p>
            <a:pPr lvl="1">
              <a:buClr>
                <a:schemeClr val="tx1"/>
              </a:buClr>
            </a:pPr>
            <a:r>
              <a:rPr lang="es-ES" sz="2000" dirty="0" smtClean="0"/>
              <a:t>Ejemplo:</a:t>
            </a:r>
          </a:p>
          <a:p>
            <a:pPr marL="1200150" lvl="2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ES" dirty="0" smtClean="0"/>
              <a:t>“</a:t>
            </a:r>
            <a:r>
              <a:rPr lang="es-ES_tradnl" dirty="0" smtClean="0"/>
              <a:t>Los ataques exitosos de intrusos a una red están relacionados con la dedicación al trabajo y la preparación técnica del administrador correspondiente”.</a:t>
            </a:r>
          </a:p>
          <a:p>
            <a:pPr marL="1200150" lvl="2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ES" dirty="0" smtClean="0">
                <a:latin typeface="Arial" panose="020B0604020202020204" pitchFamily="34" charset="0"/>
              </a:rPr>
              <a:t> “</a:t>
            </a:r>
            <a:r>
              <a:rPr lang="es-ES_tradnl" dirty="0" smtClean="0"/>
              <a:t>A mejores sistemas de seguridad de una red ocurrirán menos ataques exitosos de intrusos”.</a:t>
            </a:r>
          </a:p>
          <a:p>
            <a:pPr lvl="2">
              <a:buClr>
                <a:schemeClr val="tx1"/>
              </a:buClr>
            </a:pPr>
            <a:endParaRPr lang="es-ES_tradnl" dirty="0" smtClean="0"/>
          </a:p>
          <a:p>
            <a:pPr>
              <a:lnSpc>
                <a:spcPct val="90000"/>
              </a:lnSpc>
              <a:buClr>
                <a:schemeClr val="tx1"/>
              </a:buClr>
            </a:pPr>
            <a:endParaRPr lang="es-ES_tradnl" sz="2000" dirty="0"/>
          </a:p>
        </p:txBody>
      </p:sp>
    </p:spTree>
    <p:extLst>
      <p:ext uri="{BB962C8B-B14F-4D97-AF65-F5344CB8AC3E}">
        <p14:creationId xmlns:p14="http://schemas.microsoft.com/office/powerpoint/2010/main" val="2529921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298817"/>
            <a:ext cx="10515600" cy="2699880"/>
          </a:xfrm>
        </p:spPr>
        <p:txBody>
          <a:bodyPr>
            <a:normAutofit/>
          </a:bodyPr>
          <a:lstStyle/>
          <a:p>
            <a:r>
              <a:rPr lang="es-ES" sz="2000" dirty="0" smtClean="0"/>
              <a:t> </a:t>
            </a:r>
            <a:r>
              <a:rPr lang="es-ES" sz="2000" b="1" dirty="0" smtClean="0"/>
              <a:t>Hipótesis de diferencia. </a:t>
            </a:r>
          </a:p>
          <a:p>
            <a:pPr marL="457200" lvl="1" indent="0">
              <a:buNone/>
            </a:pPr>
            <a:r>
              <a:rPr lang="es-ES" sz="2000" dirty="0" smtClean="0"/>
              <a:t>Se formulan en investigaciones dirigidas a la comparación.</a:t>
            </a:r>
          </a:p>
          <a:p>
            <a:pPr marL="457200" lvl="1" indent="0">
              <a:buNone/>
            </a:pPr>
            <a:r>
              <a:rPr lang="es-ES" sz="2000" dirty="0" smtClean="0"/>
              <a:t>Ejemplo:</a:t>
            </a:r>
          </a:p>
          <a:p>
            <a:pPr lvl="2"/>
            <a:r>
              <a:rPr lang="es-ES_tradnl" dirty="0" smtClean="0"/>
              <a:t>“La eficiencia en la detección de intrusos en una red no será igual si el procedimiento de detección esta basado en la técnica de Redes Neuronales o en Razonamiento Basado en Casos”.</a:t>
            </a:r>
          </a:p>
          <a:p>
            <a:pPr lvl="2"/>
            <a:r>
              <a:rPr lang="es-ES_tradnl" dirty="0" smtClean="0"/>
              <a:t>“La detección de intrusos en una red es más eficiente cuando el procedimiento está basado en la técnica de Redes Neuronales o en Razonamiento Basado en Casos”.</a:t>
            </a:r>
          </a:p>
          <a:p>
            <a:pPr lvl="2"/>
            <a:endParaRPr lang="es-ES_tradnl" dirty="0" smtClean="0"/>
          </a:p>
          <a:p>
            <a:pPr lvl="1"/>
            <a:endParaRPr lang="es-ES" sz="2000" dirty="0" smtClean="0"/>
          </a:p>
          <a:p>
            <a:endParaRPr lang="es-ES_tradnl" sz="2000" dirty="0"/>
          </a:p>
        </p:txBody>
      </p:sp>
      <p:sp>
        <p:nvSpPr>
          <p:cNvPr id="2" name="Rectángulo 1"/>
          <p:cNvSpPr/>
          <p:nvPr/>
        </p:nvSpPr>
        <p:spPr>
          <a:xfrm>
            <a:off x="838200" y="4195732"/>
            <a:ext cx="10086222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ES" sz="2000" b="1" dirty="0" smtClean="0"/>
              <a:t>Hipótesis de causalidad.</a:t>
            </a:r>
          </a:p>
          <a:p>
            <a:pPr lvl="1">
              <a:lnSpc>
                <a:spcPct val="90000"/>
              </a:lnSpc>
              <a:buClr>
                <a:schemeClr val="tx1"/>
              </a:buClr>
            </a:pPr>
            <a:r>
              <a:rPr lang="es-ES" sz="2000" dirty="0" smtClean="0"/>
              <a:t>Establecen las relaciones de causa y efecto entre las variables.</a:t>
            </a:r>
          </a:p>
          <a:p>
            <a:pPr lvl="1">
              <a:lnSpc>
                <a:spcPct val="90000"/>
              </a:lnSpc>
              <a:buClr>
                <a:schemeClr val="tx1"/>
              </a:buClr>
            </a:pPr>
            <a:r>
              <a:rPr lang="es-ES" sz="2000" dirty="0" smtClean="0"/>
              <a:t>Ejemplo</a:t>
            </a:r>
          </a:p>
          <a:p>
            <a:pPr lvl="1">
              <a:lnSpc>
                <a:spcPct val="90000"/>
              </a:lnSpc>
              <a:buClr>
                <a:schemeClr val="tx1"/>
              </a:buClr>
            </a:pPr>
            <a:r>
              <a:rPr lang="es-ES" sz="2000" dirty="0" smtClean="0"/>
              <a:t>“Los agujeros de seguridad en los sistemas operativos constituyen la razón por la cual ocurren las entradas de intrusos en las redes y por consecuencia el ataque a los sistemas computacionales”.</a:t>
            </a:r>
            <a:endParaRPr lang="es-ES_tradnl" sz="2000" dirty="0" smtClean="0"/>
          </a:p>
          <a:p>
            <a:pPr lvl="3">
              <a:buClr>
                <a:schemeClr val="tx1"/>
              </a:buClr>
            </a:pPr>
            <a:endParaRPr lang="es-ES_tradnl" dirty="0" smtClean="0"/>
          </a:p>
          <a:p>
            <a:pPr>
              <a:lnSpc>
                <a:spcPct val="90000"/>
              </a:lnSpc>
              <a:buClr>
                <a:schemeClr val="tx1"/>
              </a:buClr>
            </a:pPr>
            <a:endParaRPr lang="es-ES_tradnl" sz="2000" dirty="0"/>
          </a:p>
        </p:txBody>
      </p:sp>
      <p:sp>
        <p:nvSpPr>
          <p:cNvPr id="6" name="Rectángulo 5"/>
          <p:cNvSpPr/>
          <p:nvPr/>
        </p:nvSpPr>
        <p:spPr>
          <a:xfrm>
            <a:off x="4837444" y="6165502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 smtClean="0"/>
              <a:t> </a:t>
            </a:r>
            <a:endParaRPr lang="es-ES_tradnl" dirty="0"/>
          </a:p>
        </p:txBody>
      </p:sp>
      <p:sp>
        <p:nvSpPr>
          <p:cNvPr id="11" name="Rectangle 2"/>
          <p:cNvSpPr txBox="1">
            <a:spLocks noRot="1" noChangeArrowheads="1"/>
          </p:cNvSpPr>
          <p:nvPr/>
        </p:nvSpPr>
        <p:spPr>
          <a:xfrm>
            <a:off x="0" y="185980"/>
            <a:ext cx="8229600" cy="1112837"/>
          </a:xfrm>
          <a:prstGeom prst="rect">
            <a:avLst/>
          </a:prstGeom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400" b="1" dirty="0" smtClean="0">
                <a:latin typeface="+mn-lt"/>
              </a:rPr>
              <a:t>Tipos de hipótesis</a:t>
            </a:r>
            <a:endParaRPr lang="es-ES_tradnl" sz="24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639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96311" y="859059"/>
            <a:ext cx="4980124" cy="22467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sz="2000" b="1" dirty="0" smtClean="0"/>
              <a:t>Problema</a:t>
            </a:r>
          </a:p>
          <a:p>
            <a:r>
              <a:rPr lang="es-ES" sz="2000" dirty="0" smtClean="0"/>
              <a:t>“Se desconoce la medida en que aumenta el rendimiento docente de los alumnos cuando estos se ejercitan en la resolución de problemas, así como los tipos de problemas más aconsejables y el grado de dificultad de estos”.</a:t>
            </a:r>
            <a:endParaRPr lang="es-ES_tradnl" sz="2000" dirty="0"/>
          </a:p>
        </p:txBody>
      </p:sp>
      <p:sp>
        <p:nvSpPr>
          <p:cNvPr id="5" name="Rectangle 2"/>
          <p:cNvSpPr txBox="1">
            <a:spLocks noRot="1" noChangeArrowheads="1"/>
          </p:cNvSpPr>
          <p:nvPr/>
        </p:nvSpPr>
        <p:spPr>
          <a:xfrm>
            <a:off x="0" y="-142609"/>
            <a:ext cx="8229600" cy="1112837"/>
          </a:xfrm>
          <a:prstGeom prst="rect">
            <a:avLst/>
          </a:prstGeom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400" b="1" dirty="0" smtClean="0">
                <a:latin typeface="+mn-lt"/>
              </a:rPr>
              <a:t>Ejemplos de problema-objetivos-hipótesis</a:t>
            </a:r>
            <a:endParaRPr lang="es-ES_tradnl" sz="2400" b="1" dirty="0">
              <a:latin typeface="+mn-lt"/>
            </a:endParaRPr>
          </a:p>
        </p:txBody>
      </p:sp>
      <p:grpSp>
        <p:nvGrpSpPr>
          <p:cNvPr id="10" name="Grupo 9"/>
          <p:cNvGrpSpPr/>
          <p:nvPr/>
        </p:nvGrpSpPr>
        <p:grpSpPr>
          <a:xfrm>
            <a:off x="4511924" y="413508"/>
            <a:ext cx="7519926" cy="3477875"/>
            <a:chOff x="4511924" y="413508"/>
            <a:chExt cx="7519926" cy="3477875"/>
          </a:xfrm>
        </p:grpSpPr>
        <p:sp>
          <p:nvSpPr>
            <p:cNvPr id="6" name="Rectángulo 5"/>
            <p:cNvSpPr/>
            <p:nvPr/>
          </p:nvSpPr>
          <p:spPr>
            <a:xfrm>
              <a:off x="5832530" y="413508"/>
              <a:ext cx="6199320" cy="34778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533400" indent="-533400">
                <a:buClr>
                  <a:schemeClr val="tx1"/>
                </a:buClr>
              </a:pPr>
              <a:r>
                <a:rPr lang="es-ES" sz="2000" b="1" dirty="0" smtClean="0">
                  <a:effectLst/>
                </a:rPr>
                <a:t>Objetivos</a:t>
              </a:r>
            </a:p>
            <a:p>
              <a:pPr marL="533400" indent="-533400"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s-ES" sz="2000" dirty="0" smtClean="0">
                  <a:effectLst/>
                </a:rPr>
                <a:t>Establecer el porcentaje mínimo de incremento del rendimiento de los alumnos que realizan ejercitación en la resolución de problemas, con respecto a los que no lo hacen.</a:t>
              </a:r>
            </a:p>
            <a:p>
              <a:pPr marL="533400" indent="-533400"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s-ES" sz="2000" dirty="0" smtClean="0">
                  <a:effectLst/>
                </a:rPr>
                <a:t>Definir cuales son los tipos de problemas más aconsejables para la ejercitación en la resolución de problemas.</a:t>
              </a:r>
            </a:p>
            <a:p>
              <a:pPr marL="533400" indent="-533400"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s-ES" sz="2000" dirty="0"/>
                <a:t>Determinar el grado de dificultad que deben tener los problemas que se utilicen en la ejercitación.</a:t>
              </a:r>
              <a:endParaRPr lang="es-ES_tradnl" sz="2000" dirty="0"/>
            </a:p>
            <a:p>
              <a:pPr marL="533400" indent="-533400"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endParaRPr lang="es-ES_tradnl" sz="2000" dirty="0">
                <a:effectLst/>
              </a:endParaRPr>
            </a:p>
          </p:txBody>
        </p:sp>
        <p:pic>
          <p:nvPicPr>
            <p:cNvPr id="8" name="Imagen 7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962" b="89272" l="0" r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511924" y="1016466"/>
              <a:ext cx="1799109" cy="2486025"/>
            </a:xfrm>
            <a:prstGeom prst="rect">
              <a:avLst/>
            </a:prstGeom>
          </p:spPr>
        </p:pic>
      </p:grpSp>
      <p:grpSp>
        <p:nvGrpSpPr>
          <p:cNvPr id="11" name="Grupo 10"/>
          <p:cNvGrpSpPr/>
          <p:nvPr/>
        </p:nvGrpSpPr>
        <p:grpSpPr>
          <a:xfrm>
            <a:off x="661262" y="3233328"/>
            <a:ext cx="10342537" cy="3609263"/>
            <a:chOff x="661262" y="3233328"/>
            <a:chExt cx="10342537" cy="3609263"/>
          </a:xfrm>
        </p:grpSpPr>
        <p:sp>
          <p:nvSpPr>
            <p:cNvPr id="7" name="Rectángulo 6"/>
            <p:cNvSpPr/>
            <p:nvPr/>
          </p:nvSpPr>
          <p:spPr>
            <a:xfrm>
              <a:off x="661262" y="4288046"/>
              <a:ext cx="10342537" cy="255454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533400" indent="-533400">
                <a:buClr>
                  <a:schemeClr val="tx1"/>
                </a:buClr>
              </a:pPr>
              <a:r>
                <a:rPr lang="es-ES" sz="2000" b="1" dirty="0" smtClean="0">
                  <a:effectLst/>
                </a:rPr>
                <a:t>Hipótesis</a:t>
              </a:r>
            </a:p>
            <a:p>
              <a:pPr marL="533400" indent="-533400"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s-ES" sz="2000" dirty="0" smtClean="0">
                  <a:effectLst/>
                </a:rPr>
                <a:t>La ejercitación en la resolución de problemas aumenta el rendimiento de los alumnos en más del 50% con respecto a los que no se ejercitan.</a:t>
              </a:r>
            </a:p>
            <a:p>
              <a:pPr marL="533400" indent="-533400"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s-ES" sz="2000" dirty="0" smtClean="0">
                  <a:effectLst/>
                </a:rPr>
                <a:t>La ejercitación en la resolución de problemas debe basarse, fundamentalmente, en problemas parcialmente conocidos.</a:t>
              </a:r>
            </a:p>
            <a:p>
              <a:pPr marL="533400" indent="-533400"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s-ES" sz="2000" dirty="0" smtClean="0">
                  <a:effectLst/>
                </a:rPr>
                <a:t>La ejercitación en la resolución de problemas debe ser con problemas de un grado de dificultad ligeramente superior al que usualmente resolvió durante el curso.</a:t>
              </a:r>
              <a:endParaRPr lang="es-ES_tradnl" sz="2000" dirty="0" smtClean="0">
                <a:effectLst/>
              </a:endParaRPr>
            </a:p>
            <a:p>
              <a:pPr marL="533400" indent="-533400">
                <a:buClr>
                  <a:schemeClr val="tx1"/>
                </a:buClr>
              </a:pPr>
              <a:endParaRPr lang="es-ES" sz="2000" dirty="0">
                <a:effectLst/>
              </a:endParaRPr>
            </a:p>
          </p:txBody>
        </p:sp>
        <p:pic>
          <p:nvPicPr>
            <p:cNvPr id="9" name="Imagen 8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962" b="89272" l="0" r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8871872">
              <a:off x="4450880" y="3233328"/>
              <a:ext cx="2331898" cy="13161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7550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96311" y="859059"/>
            <a:ext cx="4980124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sz="2000" b="1" dirty="0" smtClean="0"/>
              <a:t>Problema</a:t>
            </a:r>
          </a:p>
          <a:p>
            <a:r>
              <a:rPr lang="es-ES" sz="2000" dirty="0" smtClean="0"/>
              <a:t>“</a:t>
            </a:r>
            <a:r>
              <a:rPr lang="es-ES" sz="2000" dirty="0"/>
              <a:t>La mamografía es el método de </a:t>
            </a:r>
            <a:r>
              <a:rPr lang="es-ES" sz="2000" dirty="0" smtClean="0"/>
              <a:t>diagnóstico de cáncer mas utilizado a </a:t>
            </a:r>
            <a:r>
              <a:rPr lang="es-ES" sz="2000" dirty="0"/>
              <a:t>pesar de que las imágenes </a:t>
            </a:r>
            <a:r>
              <a:rPr lang="es-ES" sz="2000" dirty="0" smtClean="0"/>
              <a:t>obtenidas presentan </a:t>
            </a:r>
            <a:r>
              <a:rPr lang="es-ES" sz="2000" dirty="0"/>
              <a:t>un bajo contraste debido a la baja radiación que debe </a:t>
            </a:r>
            <a:r>
              <a:rPr lang="es-ES" sz="2000" dirty="0" smtClean="0"/>
              <a:t>emplearse”.</a:t>
            </a:r>
            <a:endParaRPr lang="es-ES_tradnl" sz="2000" dirty="0"/>
          </a:p>
        </p:txBody>
      </p:sp>
      <p:sp>
        <p:nvSpPr>
          <p:cNvPr id="5" name="Rectangle 2"/>
          <p:cNvSpPr txBox="1">
            <a:spLocks noRot="1" noChangeArrowheads="1"/>
          </p:cNvSpPr>
          <p:nvPr/>
        </p:nvSpPr>
        <p:spPr>
          <a:xfrm>
            <a:off x="0" y="-142609"/>
            <a:ext cx="8229600" cy="1112837"/>
          </a:xfrm>
          <a:prstGeom prst="rect">
            <a:avLst/>
          </a:prstGeom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400" b="1" dirty="0" smtClean="0">
                <a:latin typeface="+mn-lt"/>
              </a:rPr>
              <a:t>Ejemplos de problema-objetivos-preguntas científicas</a:t>
            </a:r>
            <a:endParaRPr lang="es-ES_tradnl" sz="2400" b="1" dirty="0">
              <a:latin typeface="+mn-lt"/>
            </a:endParaRPr>
          </a:p>
        </p:txBody>
      </p:sp>
      <p:grpSp>
        <p:nvGrpSpPr>
          <p:cNvPr id="10" name="Grupo 9"/>
          <p:cNvGrpSpPr/>
          <p:nvPr/>
        </p:nvGrpSpPr>
        <p:grpSpPr>
          <a:xfrm>
            <a:off x="4502580" y="585927"/>
            <a:ext cx="7689420" cy="2997680"/>
            <a:chOff x="4502580" y="585927"/>
            <a:chExt cx="7689420" cy="2997680"/>
          </a:xfrm>
        </p:grpSpPr>
        <p:sp>
          <p:nvSpPr>
            <p:cNvPr id="6" name="Rectángulo 5"/>
            <p:cNvSpPr/>
            <p:nvPr/>
          </p:nvSpPr>
          <p:spPr>
            <a:xfrm>
              <a:off x="5992680" y="585927"/>
              <a:ext cx="6199320" cy="193899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533400" indent="-533400">
                <a:buClr>
                  <a:schemeClr val="tx1"/>
                </a:buClr>
              </a:pPr>
              <a:r>
                <a:rPr lang="es-ES" sz="2000" b="1" dirty="0" smtClean="0">
                  <a:effectLst/>
                </a:rPr>
                <a:t>Objetivos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s-ES" sz="2000" dirty="0" smtClean="0"/>
                <a:t>Desarrollo de un </a:t>
              </a:r>
              <a:r>
                <a:rPr lang="es-ES" sz="2000" dirty="0"/>
                <a:t>software para </a:t>
              </a:r>
              <a:r>
                <a:rPr lang="es-ES" sz="2000" dirty="0" smtClean="0"/>
                <a:t>la detección de </a:t>
              </a:r>
              <a:r>
                <a:rPr lang="es-ES" sz="2000" dirty="0"/>
                <a:t>anomalías en la mamografía digital mediante el mejoramiento del contraste basado en wavelet.</a:t>
              </a:r>
              <a:r>
                <a:rPr lang="es-ES_tradnl" sz="2000" dirty="0" smtClean="0"/>
                <a:t>.</a:t>
              </a:r>
              <a:endParaRPr lang="es-ES_tradnl" sz="20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s-ES_tradnl" sz="2000" dirty="0" smtClean="0"/>
                <a:t>.</a:t>
              </a:r>
              <a:endParaRPr lang="es-ES_tradnl" sz="2000" dirty="0"/>
            </a:p>
            <a:p>
              <a:pPr marL="533400" indent="-533400"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endParaRPr lang="es-ES_tradnl" sz="2000" dirty="0">
                <a:effectLst/>
              </a:endParaRPr>
            </a:p>
          </p:txBody>
        </p:sp>
        <p:pic>
          <p:nvPicPr>
            <p:cNvPr id="8" name="Imagen 7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962" b="89272" l="0" r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502580" y="1097582"/>
              <a:ext cx="1799109" cy="2486025"/>
            </a:xfrm>
            <a:prstGeom prst="rect">
              <a:avLst/>
            </a:prstGeom>
          </p:spPr>
        </p:pic>
      </p:grpSp>
      <p:grpSp>
        <p:nvGrpSpPr>
          <p:cNvPr id="11" name="Grupo 10"/>
          <p:cNvGrpSpPr/>
          <p:nvPr/>
        </p:nvGrpSpPr>
        <p:grpSpPr>
          <a:xfrm>
            <a:off x="196311" y="3197814"/>
            <a:ext cx="10342537" cy="3520376"/>
            <a:chOff x="196311" y="3197814"/>
            <a:chExt cx="10342537" cy="3520376"/>
          </a:xfrm>
        </p:grpSpPr>
        <p:sp>
          <p:nvSpPr>
            <p:cNvPr id="7" name="Rectángulo 6"/>
            <p:cNvSpPr/>
            <p:nvPr/>
          </p:nvSpPr>
          <p:spPr>
            <a:xfrm>
              <a:off x="196311" y="3855868"/>
              <a:ext cx="10342537" cy="28623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533400" indent="-533400">
                <a:buClr>
                  <a:schemeClr val="tx1"/>
                </a:buClr>
              </a:pPr>
              <a:r>
                <a:rPr lang="es-ES" sz="2000" b="1" dirty="0" smtClean="0">
                  <a:effectLst/>
                </a:rPr>
                <a:t>Preguntas cient</a:t>
              </a:r>
              <a:r>
                <a:rPr lang="es-ES" sz="2000" b="1" dirty="0" smtClean="0"/>
                <a:t>íficas</a:t>
              </a:r>
              <a:endParaRPr lang="es-ES" sz="2000" b="1" dirty="0" smtClean="0">
                <a:effectLst/>
              </a:endParaRPr>
            </a:p>
            <a:p>
              <a:r>
                <a:rPr lang="es-ES" sz="2000" dirty="0"/>
                <a:t>1. ¿Qué algoritmos existen mejorar contraste?</a:t>
              </a:r>
            </a:p>
            <a:p>
              <a:r>
                <a:rPr lang="es-ES" sz="2000" dirty="0"/>
                <a:t>2. ¿Cuáles están basados en wavelet?</a:t>
              </a:r>
            </a:p>
            <a:p>
              <a:r>
                <a:rPr lang="es-ES" sz="2000" dirty="0"/>
                <a:t>3. ¿Cuáles son los criterios objetivos y subjetivos de evaluación de estos algoritmos?</a:t>
              </a:r>
            </a:p>
            <a:p>
              <a:r>
                <a:rPr lang="es-ES" sz="2000" dirty="0"/>
                <a:t>4. ¿Cómo se elige la base wavelet?</a:t>
              </a:r>
            </a:p>
            <a:p>
              <a:r>
                <a:rPr lang="es-ES_tradnl" sz="2000" dirty="0"/>
                <a:t>Capítulo 1. Introducción 3</a:t>
              </a:r>
            </a:p>
            <a:p>
              <a:r>
                <a:rPr lang="es-ES" sz="2000" dirty="0"/>
                <a:t>5. ¿Cuántos niveles de descomposición son necesarios?</a:t>
              </a:r>
            </a:p>
            <a:p>
              <a:r>
                <a:rPr lang="es-ES" sz="2000" dirty="0"/>
                <a:t>6. ¿Cuáles son las reglas de umbral usadas?</a:t>
              </a:r>
            </a:p>
            <a:p>
              <a:r>
                <a:rPr lang="es-ES" sz="2000" dirty="0"/>
                <a:t>7. ¿Cómo se elige el umbral?</a:t>
              </a:r>
              <a:endParaRPr lang="es-ES" sz="2000" dirty="0">
                <a:effectLst/>
              </a:endParaRPr>
            </a:p>
          </p:txBody>
        </p:sp>
        <p:pic>
          <p:nvPicPr>
            <p:cNvPr id="9" name="Imagen 8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962" b="89272" l="0" r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8871872">
              <a:off x="6071766" y="3197814"/>
              <a:ext cx="2331898" cy="13161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211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Rot="1" noChangeArrowheads="1"/>
          </p:cNvSpPr>
          <p:nvPr/>
        </p:nvSpPr>
        <p:spPr>
          <a:xfrm>
            <a:off x="-75031" y="-391553"/>
            <a:ext cx="8229600" cy="1112837"/>
          </a:xfrm>
          <a:prstGeom prst="rect">
            <a:avLst/>
          </a:prstGeom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400" b="1" dirty="0" smtClean="0">
                <a:latin typeface="+mn-lt"/>
              </a:rPr>
              <a:t>Ejemplos de problema-objetivos-hipótesis</a:t>
            </a:r>
            <a:endParaRPr lang="es-ES_tradnl" sz="2400" b="1" dirty="0">
              <a:latin typeface="+mn-lt"/>
            </a:endParaRPr>
          </a:p>
        </p:txBody>
      </p:sp>
      <p:grpSp>
        <p:nvGrpSpPr>
          <p:cNvPr id="10" name="Grupo 9"/>
          <p:cNvGrpSpPr/>
          <p:nvPr/>
        </p:nvGrpSpPr>
        <p:grpSpPr>
          <a:xfrm>
            <a:off x="5377208" y="875172"/>
            <a:ext cx="6073758" cy="2862322"/>
            <a:chOff x="5183252" y="1016612"/>
            <a:chExt cx="6073758" cy="2862322"/>
          </a:xfrm>
        </p:grpSpPr>
        <p:sp>
          <p:nvSpPr>
            <p:cNvPr id="6" name="Rectángulo 5"/>
            <p:cNvSpPr/>
            <p:nvPr/>
          </p:nvSpPr>
          <p:spPr>
            <a:xfrm>
              <a:off x="7172933" y="1016612"/>
              <a:ext cx="4084077" cy="286232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533400" indent="-533400">
                <a:buClr>
                  <a:schemeClr val="tx1"/>
                </a:buClr>
              </a:pPr>
              <a:r>
                <a:rPr lang="es-ES" sz="2000" b="1" dirty="0" smtClean="0">
                  <a:effectLst/>
                </a:rPr>
                <a:t>Objetivos</a:t>
              </a:r>
            </a:p>
            <a:p>
              <a:r>
                <a:rPr lang="es-ES_tradnl" sz="2000" b="1" dirty="0"/>
                <a:t>Generales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s-ES" sz="2000" dirty="0" smtClean="0"/>
                <a:t>Diseño </a:t>
              </a:r>
              <a:r>
                <a:rPr lang="es-ES" sz="2000" dirty="0"/>
                <a:t>e implementación de una componente de software que </a:t>
              </a:r>
              <a:r>
                <a:rPr lang="es-ES" sz="2000" dirty="0" smtClean="0"/>
                <a:t>permita abstraer </a:t>
              </a:r>
              <a:r>
                <a:rPr lang="es-ES" sz="2000" dirty="0"/>
                <a:t>a un VMS de la fuente de flujo de </a:t>
              </a:r>
              <a:r>
                <a:rPr lang="es-ES" sz="2000" dirty="0" smtClean="0"/>
                <a:t>video y que controle su acceso mediante escenarios distribuidos </a:t>
              </a:r>
              <a:endParaRPr lang="es-ES_tradnl" sz="2000" dirty="0"/>
            </a:p>
            <a:p>
              <a:pPr marL="533400" indent="-533400"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endParaRPr lang="es-ES_tradnl" sz="2000" dirty="0">
                <a:effectLst/>
              </a:endParaRPr>
            </a:p>
          </p:txBody>
        </p:sp>
        <p:pic>
          <p:nvPicPr>
            <p:cNvPr id="8" name="Imagen 7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962" b="89272" l="0" r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3262961">
              <a:off x="5526710" y="880122"/>
              <a:ext cx="1799109" cy="2486025"/>
            </a:xfrm>
            <a:prstGeom prst="rect">
              <a:avLst/>
            </a:prstGeom>
          </p:spPr>
        </p:pic>
      </p:grpSp>
      <p:grpSp>
        <p:nvGrpSpPr>
          <p:cNvPr id="11" name="Grupo 10"/>
          <p:cNvGrpSpPr/>
          <p:nvPr/>
        </p:nvGrpSpPr>
        <p:grpSpPr>
          <a:xfrm>
            <a:off x="425366" y="3848881"/>
            <a:ext cx="10342537" cy="2497204"/>
            <a:chOff x="777205" y="3193148"/>
            <a:chExt cx="10342537" cy="2497204"/>
          </a:xfrm>
        </p:grpSpPr>
        <p:sp>
          <p:nvSpPr>
            <p:cNvPr id="7" name="Rectángulo 6"/>
            <p:cNvSpPr/>
            <p:nvPr/>
          </p:nvSpPr>
          <p:spPr>
            <a:xfrm>
              <a:off x="777205" y="4366913"/>
              <a:ext cx="10342537" cy="132343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533400" indent="-533400">
                <a:buClr>
                  <a:schemeClr val="tx1"/>
                </a:buClr>
              </a:pPr>
              <a:r>
                <a:rPr lang="es-ES" sz="2000" b="1" dirty="0" smtClean="0">
                  <a:effectLst/>
                </a:rPr>
                <a:t>Hipótesis</a:t>
              </a:r>
            </a:p>
            <a:p>
              <a:r>
                <a:rPr lang="es-ES" sz="2000" dirty="0" smtClean="0"/>
                <a:t>La creación de una nueva componente </a:t>
              </a:r>
              <a:r>
                <a:rPr lang="es-ES" sz="2000" dirty="0"/>
                <a:t>de </a:t>
              </a:r>
              <a:r>
                <a:rPr lang="es-ES" sz="2000" dirty="0" smtClean="0"/>
                <a:t>software que acceda a  las fuentes de flujo de video será capaz de actuar </a:t>
              </a:r>
              <a:r>
                <a:rPr lang="es-ES" sz="2000" dirty="0"/>
                <a:t>como intermediario entre </a:t>
              </a:r>
              <a:r>
                <a:rPr lang="es-ES" sz="2000" dirty="0" smtClean="0"/>
                <a:t>esas fuentes y el sistema mediante una </a:t>
              </a:r>
              <a:r>
                <a:rPr lang="es-ES" sz="2000" dirty="0"/>
                <a:t>la infraestructura de </a:t>
              </a:r>
              <a:r>
                <a:rPr lang="es-ES" sz="2000" dirty="0" smtClean="0"/>
                <a:t>servicios </a:t>
              </a:r>
              <a:r>
                <a:rPr lang="es-ES_tradnl" sz="2000" dirty="0" smtClean="0"/>
                <a:t>en escenarios distribuidos.</a:t>
              </a:r>
              <a:endParaRPr lang="es-ES" sz="2000" dirty="0">
                <a:effectLst/>
              </a:endParaRPr>
            </a:p>
          </p:txBody>
        </p:sp>
        <p:pic>
          <p:nvPicPr>
            <p:cNvPr id="9" name="Imagen 8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962" b="89272" l="0" r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8871872">
              <a:off x="7079934" y="3193148"/>
              <a:ext cx="2331898" cy="1316108"/>
            </a:xfrm>
            <a:prstGeom prst="rect">
              <a:avLst/>
            </a:prstGeom>
          </p:spPr>
        </p:pic>
      </p:grpSp>
      <p:sp>
        <p:nvSpPr>
          <p:cNvPr id="4" name="Rectángulo 3"/>
          <p:cNvSpPr/>
          <p:nvPr/>
        </p:nvSpPr>
        <p:spPr>
          <a:xfrm>
            <a:off x="633117" y="721284"/>
            <a:ext cx="5656946" cy="37856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sz="2000" b="1" dirty="0" smtClean="0"/>
              <a:t>Problema</a:t>
            </a:r>
          </a:p>
          <a:p>
            <a:r>
              <a:rPr lang="es-ES" sz="2000" dirty="0" smtClean="0"/>
              <a:t>“</a:t>
            </a:r>
            <a:r>
              <a:rPr lang="es-ES" sz="2000" dirty="0"/>
              <a:t>Los nuevos </a:t>
            </a:r>
            <a:r>
              <a:rPr lang="es-ES" sz="2000" dirty="0" smtClean="0"/>
              <a:t>dispositivos de video </a:t>
            </a:r>
            <a:r>
              <a:rPr lang="es-ES" sz="2000" dirty="0"/>
              <a:t>no cuentan con las </a:t>
            </a:r>
            <a:r>
              <a:rPr lang="es-ES" sz="2000" dirty="0" smtClean="0"/>
              <a:t>características requeridas </a:t>
            </a:r>
            <a:r>
              <a:rPr lang="es-ES" sz="2000" dirty="0"/>
              <a:t>para el trabajo </a:t>
            </a:r>
            <a:r>
              <a:rPr lang="es-ES" sz="2000" dirty="0" smtClean="0"/>
              <a:t>de </a:t>
            </a:r>
            <a:r>
              <a:rPr lang="es-ES" sz="2000" dirty="0"/>
              <a:t>XYMA SAFE VISION. </a:t>
            </a:r>
            <a:r>
              <a:rPr lang="es-ES" sz="2000" dirty="0" smtClean="0"/>
              <a:t>Entre las </a:t>
            </a:r>
            <a:r>
              <a:rPr lang="es-ES" sz="2000" dirty="0"/>
              <a:t>características no soportadas </a:t>
            </a:r>
            <a:r>
              <a:rPr lang="es-ES" sz="2000" dirty="0" smtClean="0"/>
              <a:t>se encuentran:</a:t>
            </a:r>
            <a:endParaRPr lang="es-E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000" dirty="0"/>
              <a:t>No soportan conexión multiusuario.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Cualquier usuario puede acceder a </a:t>
            </a:r>
            <a:r>
              <a:rPr lang="es-ES" sz="2000" dirty="0" smtClean="0"/>
              <a:t>los videos </a:t>
            </a:r>
            <a:r>
              <a:rPr lang="es-ES" sz="2000" dirty="0"/>
              <a:t>aunque no tenga las </a:t>
            </a:r>
            <a:r>
              <a:rPr lang="es-ES" sz="2000" dirty="0" smtClean="0"/>
              <a:t>credenciales </a:t>
            </a:r>
            <a:r>
              <a:rPr lang="es-ES_tradnl" sz="2000" dirty="0" smtClean="0"/>
              <a:t>necesarias </a:t>
            </a:r>
            <a:r>
              <a:rPr lang="es-ES_tradnl" sz="2000" dirty="0"/>
              <a:t>para su uso.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dirty="0"/>
              <a:t>Usuarios fuera de la red del dispositivo no </a:t>
            </a:r>
            <a:r>
              <a:rPr lang="es-ES" sz="2000" dirty="0" smtClean="0"/>
              <a:t>pueden </a:t>
            </a:r>
            <a:r>
              <a:rPr lang="es-ES" sz="2000" dirty="0"/>
              <a:t>acceder al flujo </a:t>
            </a:r>
            <a:r>
              <a:rPr lang="es-ES" sz="2000" dirty="0" smtClean="0"/>
              <a:t>de</a:t>
            </a:r>
            <a:r>
              <a:rPr lang="es-ES_tradnl" sz="2000" dirty="0" smtClean="0"/>
              <a:t>v ideo </a:t>
            </a:r>
            <a:r>
              <a:rPr lang="es-ES_tradnl" sz="2000" dirty="0"/>
              <a:t>que este </a:t>
            </a:r>
            <a:r>
              <a:rPr lang="es-ES_tradnl" sz="2000" dirty="0" smtClean="0"/>
              <a:t>brinda</a:t>
            </a:r>
            <a:r>
              <a:rPr lang="es-ES" sz="2000" dirty="0" smtClean="0"/>
              <a:t>”.</a:t>
            </a:r>
            <a:endParaRPr lang="es-ES_tradnl" sz="2000" dirty="0"/>
          </a:p>
        </p:txBody>
      </p:sp>
    </p:spTree>
    <p:extLst>
      <p:ext uri="{BB962C8B-B14F-4D97-AF65-F5344CB8AC3E}">
        <p14:creationId xmlns:p14="http://schemas.microsoft.com/office/powerpoint/2010/main" val="2704117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Rot="1" noChangeArrowheads="1"/>
          </p:cNvSpPr>
          <p:nvPr/>
        </p:nvSpPr>
        <p:spPr>
          <a:xfrm>
            <a:off x="230464" y="-188699"/>
            <a:ext cx="8229600" cy="1112837"/>
          </a:xfrm>
          <a:prstGeom prst="rect">
            <a:avLst/>
          </a:prstGeom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400" b="1" dirty="0" smtClean="0">
                <a:latin typeface="+mn-lt"/>
              </a:rPr>
              <a:t>Métodos científicos</a:t>
            </a:r>
            <a:endParaRPr lang="es-ES_tradnl" sz="2400" b="1" dirty="0">
              <a:latin typeface="+mn-lt"/>
            </a:endParaRPr>
          </a:p>
        </p:txBody>
      </p:sp>
      <p:grpSp>
        <p:nvGrpSpPr>
          <p:cNvPr id="18" name="Grupo 17"/>
          <p:cNvGrpSpPr/>
          <p:nvPr/>
        </p:nvGrpSpPr>
        <p:grpSpPr>
          <a:xfrm>
            <a:off x="1026170" y="1642242"/>
            <a:ext cx="8934075" cy="5208409"/>
            <a:chOff x="1026170" y="1642242"/>
            <a:chExt cx="8934075" cy="5208409"/>
          </a:xfrm>
        </p:grpSpPr>
        <p:sp>
          <p:nvSpPr>
            <p:cNvPr id="17" name="Flecha curvada hacia la derecha 16"/>
            <p:cNvSpPr/>
            <p:nvPr/>
          </p:nvSpPr>
          <p:spPr>
            <a:xfrm>
              <a:off x="1026170" y="1642242"/>
              <a:ext cx="1581124" cy="3659808"/>
            </a:xfrm>
            <a:prstGeom prst="curved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2400" dirty="0" smtClean="0">
                  <a:solidFill>
                    <a:schemeClr val="tx1"/>
                  </a:solidFill>
                </a:rPr>
                <a:t>Se clasifican:</a:t>
              </a:r>
              <a:endParaRPr lang="es-ES_tradnl" sz="2400" dirty="0">
                <a:solidFill>
                  <a:schemeClr val="tx1"/>
                </a:solidFill>
              </a:endParaRPr>
            </a:p>
          </p:txBody>
        </p:sp>
        <p:grpSp>
          <p:nvGrpSpPr>
            <p:cNvPr id="4" name="Group 3"/>
            <p:cNvGrpSpPr>
              <a:grpSpLocks/>
            </p:cNvGrpSpPr>
            <p:nvPr/>
          </p:nvGrpSpPr>
          <p:grpSpPr bwMode="auto">
            <a:xfrm>
              <a:off x="2650507" y="2450401"/>
              <a:ext cx="7309738" cy="4400250"/>
              <a:chOff x="176" y="754"/>
              <a:chExt cx="5413" cy="3010"/>
            </a:xfrm>
          </p:grpSpPr>
          <p:sp>
            <p:nvSpPr>
              <p:cNvPr id="5" name="Text Box 4"/>
              <p:cNvSpPr txBox="1">
                <a:spLocks noChangeArrowheads="1"/>
              </p:cNvSpPr>
              <p:nvPr/>
            </p:nvSpPr>
            <p:spPr bwMode="auto">
              <a:xfrm>
                <a:off x="591" y="773"/>
                <a:ext cx="168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BBE0E3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4008" tIns="32004" rIns="64008" bIns="32004"/>
              <a:lstStyle/>
              <a:p>
                <a:pPr algn="ctr"/>
                <a:r>
                  <a:rPr lang="es-ES" b="1" dirty="0"/>
                  <a:t>CUANTITATIVOS</a:t>
                </a:r>
              </a:p>
            </p:txBody>
          </p:sp>
          <p:sp>
            <p:nvSpPr>
              <p:cNvPr id="6" name="Line 5"/>
              <p:cNvSpPr>
                <a:spLocks noChangeShapeType="1"/>
              </p:cNvSpPr>
              <p:nvPr/>
            </p:nvSpPr>
            <p:spPr bwMode="auto">
              <a:xfrm>
                <a:off x="2772" y="754"/>
                <a:ext cx="1" cy="301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7" name="Oval 6"/>
              <p:cNvSpPr>
                <a:spLocks noChangeArrowheads="1"/>
              </p:cNvSpPr>
              <p:nvPr/>
            </p:nvSpPr>
            <p:spPr bwMode="auto">
              <a:xfrm>
                <a:off x="1856" y="1362"/>
                <a:ext cx="1815" cy="1753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BBE0E3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es-ES"/>
              </a:p>
            </p:txBody>
          </p:sp>
          <p:sp>
            <p:nvSpPr>
              <p:cNvPr id="8" name="Oval 7"/>
              <p:cNvSpPr>
                <a:spLocks noChangeArrowheads="1"/>
              </p:cNvSpPr>
              <p:nvPr/>
            </p:nvSpPr>
            <p:spPr bwMode="auto">
              <a:xfrm>
                <a:off x="1440" y="937"/>
                <a:ext cx="2698" cy="265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BBE0E3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es-ES"/>
              </a:p>
            </p:txBody>
          </p:sp>
          <p:sp>
            <p:nvSpPr>
              <p:cNvPr id="9" name="Line 8"/>
              <p:cNvSpPr>
                <a:spLocks noChangeShapeType="1"/>
              </p:cNvSpPr>
              <p:nvPr/>
            </p:nvSpPr>
            <p:spPr bwMode="auto">
              <a:xfrm>
                <a:off x="352" y="2212"/>
                <a:ext cx="523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0" name="Text Box 9"/>
              <p:cNvSpPr txBox="1">
                <a:spLocks noChangeArrowheads="1"/>
              </p:cNvSpPr>
              <p:nvPr/>
            </p:nvSpPr>
            <p:spPr bwMode="auto">
              <a:xfrm>
                <a:off x="176" y="1840"/>
                <a:ext cx="120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BBE0E3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4008" tIns="32004" rIns="64008" bIns="32004"/>
              <a:lstStyle/>
              <a:p>
                <a:pPr algn="ctr"/>
                <a:r>
                  <a:rPr lang="es-ES" b="1" dirty="0"/>
                  <a:t>EMPÍRICOS</a:t>
                </a:r>
                <a:endParaRPr lang="es-ES" dirty="0"/>
              </a:p>
            </p:txBody>
          </p:sp>
          <p:sp>
            <p:nvSpPr>
              <p:cNvPr id="11" name="Text Box 10"/>
              <p:cNvSpPr txBox="1">
                <a:spLocks noChangeArrowheads="1"/>
              </p:cNvSpPr>
              <p:nvPr/>
            </p:nvSpPr>
            <p:spPr bwMode="auto">
              <a:xfrm>
                <a:off x="4224" y="2293"/>
                <a:ext cx="1091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BBE0E3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4008" tIns="32004" rIns="64008" bIns="32004"/>
              <a:lstStyle/>
              <a:p>
                <a:pPr algn="ctr"/>
                <a:r>
                  <a:rPr lang="es-ES" b="1" dirty="0"/>
                  <a:t>TEÓRICOS</a:t>
                </a:r>
                <a:endParaRPr lang="es-ES" dirty="0"/>
              </a:p>
            </p:txBody>
          </p:sp>
          <p:sp>
            <p:nvSpPr>
              <p:cNvPr id="12" name="Oval 11"/>
              <p:cNvSpPr>
                <a:spLocks noChangeArrowheads="1"/>
              </p:cNvSpPr>
              <p:nvPr/>
            </p:nvSpPr>
            <p:spPr bwMode="auto">
              <a:xfrm>
                <a:off x="2245" y="1752"/>
                <a:ext cx="986" cy="95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BBE0E3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es-ES"/>
              </a:p>
            </p:txBody>
          </p:sp>
          <p:sp>
            <p:nvSpPr>
              <p:cNvPr id="13" name="Text Box 12"/>
              <p:cNvSpPr txBox="1">
                <a:spLocks noChangeArrowheads="1"/>
              </p:cNvSpPr>
              <p:nvPr/>
            </p:nvSpPr>
            <p:spPr bwMode="auto">
              <a:xfrm>
                <a:off x="2063" y="1521"/>
                <a:ext cx="1349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BBE0E3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4008" tIns="32004" rIns="64008" bIns="32004"/>
              <a:lstStyle/>
              <a:p>
                <a:pPr algn="ctr"/>
                <a:r>
                  <a:rPr lang="es-ES" b="1" dirty="0"/>
                  <a:t>GENERALES</a:t>
                </a:r>
                <a:endParaRPr lang="es-ES" dirty="0"/>
              </a:p>
            </p:txBody>
          </p:sp>
          <p:sp>
            <p:nvSpPr>
              <p:cNvPr id="14" name="Text Box 13"/>
              <p:cNvSpPr txBox="1">
                <a:spLocks noChangeArrowheads="1"/>
              </p:cNvSpPr>
              <p:nvPr/>
            </p:nvSpPr>
            <p:spPr bwMode="auto">
              <a:xfrm>
                <a:off x="2063" y="1093"/>
                <a:ext cx="1441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BBE0E3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4008" tIns="32004" rIns="64008" bIns="32004"/>
              <a:lstStyle/>
              <a:p>
                <a:pPr algn="ctr"/>
                <a:r>
                  <a:rPr lang="es-ES" b="1" dirty="0"/>
                  <a:t>UNIVERSALES</a:t>
                </a:r>
                <a:endParaRPr lang="es-ES" dirty="0"/>
              </a:p>
            </p:txBody>
          </p:sp>
          <p:sp>
            <p:nvSpPr>
              <p:cNvPr id="15" name="Text Box 14"/>
              <p:cNvSpPr txBox="1">
                <a:spLocks noChangeArrowheads="1"/>
              </p:cNvSpPr>
              <p:nvPr/>
            </p:nvSpPr>
            <p:spPr bwMode="auto">
              <a:xfrm>
                <a:off x="2003" y="2003"/>
                <a:ext cx="1467" cy="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BBE0E3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4008" tIns="32004" rIns="64008" bIns="32004"/>
              <a:lstStyle/>
              <a:p>
                <a:pPr algn="ctr"/>
                <a:r>
                  <a:rPr lang="es-ES" sz="1400" b="1" dirty="0"/>
                  <a:t>PARTICULARES</a:t>
                </a:r>
                <a:endParaRPr lang="es-ES" sz="1400" dirty="0"/>
              </a:p>
            </p:txBody>
          </p:sp>
          <p:sp>
            <p:nvSpPr>
              <p:cNvPr id="16" name="Text Box 15"/>
              <p:cNvSpPr txBox="1">
                <a:spLocks noChangeArrowheads="1"/>
              </p:cNvSpPr>
              <p:nvPr/>
            </p:nvSpPr>
            <p:spPr bwMode="auto">
              <a:xfrm>
                <a:off x="3404" y="3445"/>
                <a:ext cx="1533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BBE0E3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4008" tIns="32004" rIns="64008" bIns="32004"/>
              <a:lstStyle/>
              <a:p>
                <a:pPr algn="ctr"/>
                <a:r>
                  <a:rPr lang="es-ES" b="1" dirty="0"/>
                  <a:t>CUALITATIVOS</a:t>
                </a:r>
                <a:endParaRPr lang="es-ES" dirty="0"/>
              </a:p>
            </p:txBody>
          </p:sp>
        </p:grpSp>
      </p:grpSp>
      <p:sp>
        <p:nvSpPr>
          <p:cNvPr id="3" name="Rectángulo 2"/>
          <p:cNvSpPr/>
          <p:nvPr/>
        </p:nvSpPr>
        <p:spPr>
          <a:xfrm>
            <a:off x="620109" y="1025584"/>
            <a:ext cx="10976213" cy="10156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sz="2000" b="1" i="0" u="none" strike="noStrike" baseline="0" dirty="0" smtClean="0"/>
              <a:t>Definición</a:t>
            </a:r>
          </a:p>
          <a:p>
            <a:r>
              <a:rPr lang="es-ES" sz="2000" i="0" u="none" strike="noStrike" baseline="0" dirty="0" smtClean="0"/>
              <a:t>Se entiende por método científico a la cadena ordenada de pasos, acciones o reglas que permite avanzar en el proceso del conocimiento de lo conocido a lo desconocido.</a:t>
            </a:r>
            <a:endParaRPr lang="es-ES_tradnl" sz="2000" dirty="0"/>
          </a:p>
        </p:txBody>
      </p:sp>
    </p:spTree>
    <p:extLst>
      <p:ext uri="{BB962C8B-B14F-4D97-AF65-F5344CB8AC3E}">
        <p14:creationId xmlns:p14="http://schemas.microsoft.com/office/powerpoint/2010/main" val="2722621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Rot="1" noChangeArrowheads="1"/>
          </p:cNvSpPr>
          <p:nvPr/>
        </p:nvSpPr>
        <p:spPr>
          <a:xfrm>
            <a:off x="0" y="-142609"/>
            <a:ext cx="8229600" cy="1112837"/>
          </a:xfrm>
          <a:prstGeom prst="rect">
            <a:avLst/>
          </a:prstGeom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400" b="1" dirty="0" smtClean="0">
                <a:latin typeface="+mn-lt"/>
              </a:rPr>
              <a:t>Métodos científicos</a:t>
            </a:r>
            <a:endParaRPr lang="es-ES_tradnl" sz="2400" b="1" dirty="0">
              <a:latin typeface="+mn-lt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955727" y="753252"/>
            <a:ext cx="10683499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i="0" u="none" strike="noStrike" baseline="0" dirty="0" smtClean="0"/>
              <a:t>Tipos de métodos</a:t>
            </a:r>
          </a:p>
          <a:p>
            <a:endParaRPr lang="es-ES" sz="2000" b="1" i="0" u="none" strike="noStrike" baseline="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b="1" i="0" dirty="0" smtClean="0"/>
              <a:t> Analítico - </a:t>
            </a:r>
            <a:r>
              <a:rPr lang="es-ES" sz="2000" b="1" i="0" dirty="0" err="1" smtClean="0"/>
              <a:t>Sintéctico</a:t>
            </a:r>
            <a:r>
              <a:rPr lang="es-ES" sz="2000" b="1" i="0" dirty="0" smtClean="0"/>
              <a:t>. </a:t>
            </a:r>
          </a:p>
          <a:p>
            <a:pPr lvl="1"/>
            <a:r>
              <a:rPr lang="es-ES_tradnl" dirty="0" smtClean="0"/>
              <a:t>Conjuntamente con la </a:t>
            </a:r>
            <a:r>
              <a:rPr lang="es-ES" dirty="0" smtClean="0"/>
              <a:t>síntesis, la comparación, la abstracción, y la generalización, el </a:t>
            </a:r>
            <a:r>
              <a:rPr lang="es-ES" b="1" dirty="0" smtClean="0"/>
              <a:t>análisis</a:t>
            </a:r>
            <a:r>
              <a:rPr lang="es-ES" dirty="0" smtClean="0"/>
              <a:t> constituye un método lógico fundamental en la formación de conceptos y la </a:t>
            </a:r>
            <a:r>
              <a:rPr lang="es-ES" b="1" dirty="0" smtClean="0"/>
              <a:t>síntesis</a:t>
            </a:r>
            <a:r>
              <a:rPr lang="es-ES" dirty="0" smtClean="0"/>
              <a:t> consiste </a:t>
            </a:r>
            <a:r>
              <a:rPr lang="es-ES" dirty="0"/>
              <a:t>en la unión de los elementos esenciales de un objeto obtenidos</a:t>
            </a:r>
          </a:p>
          <a:p>
            <a:pPr lvl="1"/>
            <a:r>
              <a:rPr lang="es-ES_tradnl" dirty="0"/>
              <a:t>durante el </a:t>
            </a:r>
            <a:r>
              <a:rPr lang="es-ES_tradnl" dirty="0" smtClean="0"/>
              <a:t>análisis.</a:t>
            </a:r>
            <a:endParaRPr lang="es-ES" sz="4400" i="0" dirty="0" smtClean="0"/>
          </a:p>
          <a:p>
            <a:endParaRPr lang="es-ES_tradnl" sz="2000" b="1" dirty="0"/>
          </a:p>
        </p:txBody>
      </p:sp>
      <p:grpSp>
        <p:nvGrpSpPr>
          <p:cNvPr id="7" name="Grupo 6"/>
          <p:cNvGrpSpPr/>
          <p:nvPr/>
        </p:nvGrpSpPr>
        <p:grpSpPr>
          <a:xfrm>
            <a:off x="196309" y="2887682"/>
            <a:ext cx="11727054" cy="3970318"/>
            <a:chOff x="196309" y="2887682"/>
            <a:chExt cx="11727054" cy="3970318"/>
          </a:xfrm>
        </p:grpSpPr>
        <p:sp>
          <p:nvSpPr>
            <p:cNvPr id="5" name="Rectángulo 4"/>
            <p:cNvSpPr/>
            <p:nvPr/>
          </p:nvSpPr>
          <p:spPr>
            <a:xfrm>
              <a:off x="196309" y="2887682"/>
              <a:ext cx="5042117" cy="397031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s-ES_tradnl" b="1" dirty="0">
                  <a:solidFill>
                    <a:srgbClr val="000000"/>
                  </a:solidFill>
                  <a:latin typeface="Verdana" panose="020B0604030504040204" pitchFamily="34" charset="0"/>
                </a:rPr>
                <a:t>Análisis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_tradnl" dirty="0">
                  <a:solidFill>
                    <a:srgbClr val="000000"/>
                  </a:solidFill>
                  <a:latin typeface="Verdana" panose="020B0604030504040204" pitchFamily="34" charset="0"/>
                </a:rPr>
                <a:t>Especificación de modelo global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dirty="0">
                  <a:solidFill>
                    <a:srgbClr val="000000"/>
                  </a:solidFill>
                  <a:latin typeface="Verdana" panose="020B0604030504040204" pitchFamily="34" charset="0"/>
                </a:rPr>
                <a:t>Reiterar niveles de descomposición en módulos hasta especificar módulos atómicos </a:t>
              </a:r>
            </a:p>
            <a:p>
              <a:pPr marL="1200150" lvl="2" indent="-285750">
                <a:buFont typeface="Wingdings" panose="05000000000000000000" pitchFamily="2" charset="2"/>
                <a:buChar char="q"/>
              </a:pPr>
              <a:r>
                <a:rPr lang="es-ES" dirty="0">
                  <a:solidFill>
                    <a:srgbClr val="000000"/>
                  </a:solidFill>
                  <a:latin typeface="Verdana" panose="020B0604030504040204" pitchFamily="34" charset="0"/>
                </a:rPr>
                <a:t>Para cada nivel: Para cada módulo: Modelar clase </a:t>
              </a:r>
            </a:p>
            <a:p>
              <a:pPr marL="1200150" lvl="2" indent="-285750">
                <a:buFont typeface="Wingdings" panose="05000000000000000000" pitchFamily="2" charset="2"/>
                <a:buChar char="q"/>
              </a:pPr>
              <a:r>
                <a:rPr lang="es-ES_tradnl" dirty="0">
                  <a:solidFill>
                    <a:srgbClr val="000000"/>
                  </a:solidFill>
                  <a:latin typeface="Verdana" panose="020B0604030504040204" pitchFamily="34" charset="0"/>
                </a:rPr>
                <a:t>Diseñar solución </a:t>
              </a:r>
            </a:p>
            <a:p>
              <a:pPr marL="1200150" lvl="2" indent="-285750">
                <a:buFont typeface="Wingdings" panose="05000000000000000000" pitchFamily="2" charset="2"/>
                <a:buChar char="q"/>
              </a:pPr>
              <a:r>
                <a:rPr lang="es-ES_tradnl" dirty="0">
                  <a:solidFill>
                    <a:srgbClr val="000000"/>
                  </a:solidFill>
                  <a:latin typeface="Verdana" panose="020B0604030504040204" pitchFamily="34" charset="0"/>
                </a:rPr>
                <a:t>Validar </a:t>
              </a:r>
            </a:p>
            <a:p>
              <a:pPr lvl="1"/>
              <a:endParaRPr lang="es-ES_tradnl" dirty="0">
                <a:solidFill>
                  <a:srgbClr val="000000"/>
                </a:solidFill>
                <a:latin typeface="Verdana" panose="020B060403050404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_tradnl" dirty="0">
                  <a:solidFill>
                    <a:srgbClr val="000000"/>
                  </a:solidFill>
                  <a:latin typeface="Verdana" panose="020B0604030504040204" pitchFamily="34" charset="0"/>
                </a:rPr>
                <a:t>Integrar </a:t>
              </a:r>
              <a:r>
                <a:rPr lang="es-ES_tradnl" dirty="0" err="1">
                  <a:solidFill>
                    <a:srgbClr val="000000"/>
                  </a:solidFill>
                  <a:latin typeface="Verdana" panose="020B0604030504040204" pitchFamily="34" charset="0"/>
                </a:rPr>
                <a:t>submódulos</a:t>
              </a:r>
              <a:r>
                <a:rPr lang="es-ES_tradnl" dirty="0">
                  <a:solidFill>
                    <a:srgbClr val="000000"/>
                  </a:solidFill>
                  <a:latin typeface="Verdana" panose="020B0604030504040204" pitchFamily="34" charset="0"/>
                </a:rPr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_tradnl" dirty="0">
                  <a:solidFill>
                    <a:srgbClr val="000000"/>
                  </a:solidFill>
                  <a:latin typeface="Verdana" panose="020B0604030504040204" pitchFamily="34" charset="0"/>
                </a:rPr>
                <a:t>Validar </a:t>
              </a:r>
            </a:p>
            <a:p>
              <a:endParaRPr lang="es-ES_tradnl" dirty="0">
                <a:solidFill>
                  <a:srgbClr val="000000"/>
                </a:solidFill>
                <a:latin typeface="Verdana" panose="020B0604030504040204" pitchFamily="34" charset="0"/>
              </a:endParaRPr>
            </a:p>
            <a:p>
              <a:endParaRPr lang="es-ES_tradnl" dirty="0">
                <a:solidFill>
                  <a:srgbClr val="000000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6" name="Rectángulo 5"/>
            <p:cNvSpPr/>
            <p:nvPr/>
          </p:nvSpPr>
          <p:spPr>
            <a:xfrm>
              <a:off x="5827363" y="3303180"/>
              <a:ext cx="6096000" cy="313932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r>
                <a:rPr lang="es-ES_tradnl" b="1" dirty="0" smtClean="0">
                  <a:solidFill>
                    <a:srgbClr val="000000"/>
                  </a:solidFill>
                  <a:latin typeface="Verdana" panose="020B0604030504040204" pitchFamily="34" charset="0"/>
                </a:rPr>
                <a:t>Síntesis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_tradnl" dirty="0" smtClean="0">
                  <a:solidFill>
                    <a:srgbClr val="000000"/>
                  </a:solidFill>
                  <a:latin typeface="Verdana" panose="020B0604030504040204" pitchFamily="34" charset="0"/>
                </a:rPr>
                <a:t>Para cada módulo atómico: </a:t>
              </a:r>
            </a:p>
            <a:p>
              <a:pPr marL="742950" lvl="1" indent="-285750">
                <a:buFont typeface="Wingdings" panose="05000000000000000000" pitchFamily="2" charset="2"/>
                <a:buChar char="q"/>
              </a:pPr>
              <a:r>
                <a:rPr lang="es-ES_tradnl" dirty="0" smtClean="0">
                  <a:solidFill>
                    <a:srgbClr val="000000"/>
                  </a:solidFill>
                  <a:latin typeface="Verdana" panose="020B0604030504040204" pitchFamily="34" charset="0"/>
                </a:rPr>
                <a:t>Modelar clase </a:t>
              </a:r>
            </a:p>
            <a:p>
              <a:pPr marL="742950" lvl="1" indent="-285750">
                <a:buFont typeface="Wingdings" panose="05000000000000000000" pitchFamily="2" charset="2"/>
                <a:buChar char="q"/>
              </a:pPr>
              <a:r>
                <a:rPr lang="es-ES_tradnl" dirty="0" smtClean="0">
                  <a:solidFill>
                    <a:srgbClr val="000000"/>
                  </a:solidFill>
                  <a:latin typeface="Verdana" panose="020B0604030504040204" pitchFamily="34" charset="0"/>
                </a:rPr>
                <a:t>Diseñar solución </a:t>
              </a:r>
            </a:p>
            <a:p>
              <a:pPr marL="742950" lvl="1" indent="-285750">
                <a:buFont typeface="Wingdings" panose="05000000000000000000" pitchFamily="2" charset="2"/>
                <a:buChar char="q"/>
              </a:pPr>
              <a:r>
                <a:rPr lang="es-ES_tradnl" dirty="0" smtClean="0">
                  <a:solidFill>
                    <a:srgbClr val="000000"/>
                  </a:solidFill>
                  <a:latin typeface="Verdana" panose="020B0604030504040204" pitchFamily="34" charset="0"/>
                </a:rPr>
                <a:t>Validar </a:t>
              </a:r>
            </a:p>
            <a:p>
              <a:pPr marL="742950" lvl="1" indent="-285750">
                <a:buFont typeface="Wingdings" panose="05000000000000000000" pitchFamily="2" charset="2"/>
                <a:buChar char="q"/>
              </a:pPr>
              <a:endParaRPr lang="es-ES_tradnl" dirty="0" smtClean="0">
                <a:solidFill>
                  <a:srgbClr val="000000"/>
                </a:solidFill>
                <a:latin typeface="Verdana" panose="020B060403050404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dirty="0" smtClean="0">
                  <a:solidFill>
                    <a:srgbClr val="000000"/>
                  </a:solidFill>
                  <a:latin typeface="Verdana" panose="020B0604030504040204" pitchFamily="34" charset="0"/>
                </a:rPr>
                <a:t>Hasta resultado final: </a:t>
              </a:r>
            </a:p>
            <a:p>
              <a:pPr marL="742950" lvl="1" indent="-285750">
                <a:buFont typeface="Wingdings" panose="05000000000000000000" pitchFamily="2" charset="2"/>
                <a:buChar char="q"/>
              </a:pPr>
              <a:r>
                <a:rPr lang="es-ES" dirty="0" smtClean="0">
                  <a:solidFill>
                    <a:srgbClr val="000000"/>
                  </a:solidFill>
                  <a:latin typeface="Verdana" panose="020B0604030504040204" pitchFamily="34" charset="0"/>
                </a:rPr>
                <a:t>Integrar módulos para obtener otros más elaborados </a:t>
              </a:r>
            </a:p>
            <a:p>
              <a:pPr marL="742950" lvl="1" indent="-285750">
                <a:buFont typeface="Wingdings" panose="05000000000000000000" pitchFamily="2" charset="2"/>
                <a:buChar char="q"/>
              </a:pPr>
              <a:r>
                <a:rPr lang="es-ES_tradnl" dirty="0" smtClean="0">
                  <a:solidFill>
                    <a:srgbClr val="000000"/>
                  </a:solidFill>
                  <a:latin typeface="Verdana" panose="020B0604030504040204" pitchFamily="34" charset="0"/>
                </a:rPr>
                <a:t>Validar</a:t>
              </a:r>
            </a:p>
            <a:p>
              <a:pPr lvl="3"/>
              <a:endParaRPr lang="es-ES_tradnl" dirty="0">
                <a:solidFill>
                  <a:srgbClr val="000000"/>
                </a:solidFill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5499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Rot="1" noChangeArrowheads="1"/>
          </p:cNvSpPr>
          <p:nvPr/>
        </p:nvSpPr>
        <p:spPr>
          <a:xfrm>
            <a:off x="0" y="-142609"/>
            <a:ext cx="8229600" cy="1112837"/>
          </a:xfrm>
          <a:prstGeom prst="rect">
            <a:avLst/>
          </a:prstGeom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400" b="1" dirty="0" smtClean="0">
                <a:latin typeface="+mn-lt"/>
              </a:rPr>
              <a:t>Métodos científicos</a:t>
            </a:r>
            <a:endParaRPr lang="es-ES_tradnl" sz="2400" b="1" dirty="0">
              <a:latin typeface="+mn-lt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971226" y="970228"/>
            <a:ext cx="8622225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b="1" i="0" u="none" strike="noStrike" baseline="0" dirty="0" smtClean="0"/>
              <a:t>Tipos de métodos</a:t>
            </a:r>
          </a:p>
          <a:p>
            <a:endParaRPr lang="es-ES" sz="2000" b="1" i="0" u="none" strike="noStrike" baseline="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b="1" dirty="0" smtClean="0"/>
              <a:t>Inductivo </a:t>
            </a:r>
            <a:r>
              <a:rPr lang="es-ES" sz="2000" b="1" dirty="0"/>
              <a:t>- Deductivo</a:t>
            </a:r>
            <a:r>
              <a:rPr lang="es-ES" sz="2000" b="1" dirty="0" smtClean="0"/>
              <a:t>.</a:t>
            </a:r>
          </a:p>
          <a:p>
            <a:pPr lvl="1"/>
            <a:r>
              <a:rPr lang="es-ES_tradnl" sz="2000" dirty="0"/>
              <a:t>La </a:t>
            </a:r>
            <a:r>
              <a:rPr lang="es-ES_tradnl" sz="2000" b="1" dirty="0" smtClean="0"/>
              <a:t>inducción</a:t>
            </a:r>
            <a:r>
              <a:rPr lang="es-ES_tradnl" sz="2000" dirty="0" smtClean="0"/>
              <a:t> </a:t>
            </a:r>
            <a:r>
              <a:rPr lang="es-ES" sz="2000" dirty="0" smtClean="0"/>
              <a:t>extrae </a:t>
            </a:r>
            <a:r>
              <a:rPr lang="es-ES" sz="2000" dirty="0"/>
              <a:t>el conocimiento en forma de reglas o árboles de decisión a partir de los </a:t>
            </a:r>
            <a:r>
              <a:rPr lang="es-ES" sz="2000" dirty="0" smtClean="0"/>
              <a:t>datos existentes</a:t>
            </a:r>
            <a:r>
              <a:rPr lang="es-ES" sz="2000" dirty="0"/>
              <a:t>. La </a:t>
            </a:r>
            <a:r>
              <a:rPr lang="es-ES" sz="2000" b="1" dirty="0"/>
              <a:t>deducción</a:t>
            </a:r>
            <a:r>
              <a:rPr lang="es-ES" sz="2000" dirty="0"/>
              <a:t> aplica los resultados de la inducción para </a:t>
            </a:r>
            <a:r>
              <a:rPr lang="es-ES" sz="2000" dirty="0" smtClean="0"/>
              <a:t>interpretar </a:t>
            </a:r>
            <a:r>
              <a:rPr lang="es-ES_tradnl" sz="2000" dirty="0" smtClean="0"/>
              <a:t>nuevos </a:t>
            </a:r>
            <a:r>
              <a:rPr lang="es-ES_tradnl" sz="2000" dirty="0"/>
              <a:t>datos.</a:t>
            </a:r>
            <a:endParaRPr lang="es-ES" sz="2000" dirty="0"/>
          </a:p>
          <a:p>
            <a:pPr>
              <a:buFontTx/>
              <a:buChar char="•"/>
            </a:pPr>
            <a:r>
              <a:rPr lang="es-ES" sz="2000" b="1" dirty="0" smtClean="0"/>
              <a:t> </a:t>
            </a:r>
            <a:r>
              <a:rPr lang="es-ES" sz="2000" b="1" dirty="0"/>
              <a:t>Analogía y Comparación</a:t>
            </a:r>
            <a:r>
              <a:rPr lang="en-US" sz="2000" b="1" dirty="0" smtClean="0"/>
              <a:t>.</a:t>
            </a:r>
          </a:p>
          <a:p>
            <a:pPr lvl="1"/>
            <a:r>
              <a:rPr lang="es-ES" sz="2000" dirty="0" smtClean="0"/>
              <a:t>La </a:t>
            </a:r>
            <a:r>
              <a:rPr lang="es-ES" sz="2000" b="1" dirty="0" smtClean="0"/>
              <a:t>analogía</a:t>
            </a:r>
            <a:r>
              <a:rPr lang="es-ES" sz="2000" dirty="0" smtClean="0"/>
              <a:t> se </a:t>
            </a:r>
            <a:r>
              <a:rPr lang="es-ES" sz="2000" dirty="0"/>
              <a:t>produce cuando el que aprende adquiere un nuevo conocimiento o </a:t>
            </a:r>
            <a:r>
              <a:rPr lang="es-ES" sz="2000" dirty="0" smtClean="0"/>
              <a:t>concepto mediante </a:t>
            </a:r>
            <a:r>
              <a:rPr lang="es-ES" sz="2000" dirty="0"/>
              <a:t>la modificación de un concepto análogo conocido de </a:t>
            </a:r>
            <a:r>
              <a:rPr lang="es-ES" sz="2000" dirty="0" smtClean="0"/>
              <a:t>antemano y establece </a:t>
            </a:r>
            <a:r>
              <a:rPr lang="es-ES" sz="2000" b="1" dirty="0" smtClean="0"/>
              <a:t>comparaciones</a:t>
            </a:r>
            <a:r>
              <a:rPr lang="es-ES" sz="2000" dirty="0" smtClean="0"/>
              <a:t> de propiedades y comportamientos.</a:t>
            </a:r>
            <a:endParaRPr lang="es-ES" sz="2000" dirty="0"/>
          </a:p>
          <a:p>
            <a:pPr>
              <a:buFontTx/>
              <a:buChar char="•"/>
            </a:pPr>
            <a:r>
              <a:rPr lang="es-ES_tradnl" sz="2000" b="1" i="0" dirty="0" smtClean="0"/>
              <a:t> </a:t>
            </a:r>
            <a:r>
              <a:rPr lang="es-ES_tradnl" sz="2000" b="1" dirty="0" smtClean="0"/>
              <a:t>La entrevista y el cuestionario. </a:t>
            </a:r>
          </a:p>
          <a:p>
            <a:pPr lvl="1"/>
            <a:r>
              <a:rPr lang="es-ES_tradnl" sz="2000" dirty="0" smtClean="0"/>
              <a:t>Obtener información sobre diversos aspectos de la producción, los servicios y la sociedad en su conjunto que se relacionen con el problema planteado</a:t>
            </a:r>
          </a:p>
          <a:p>
            <a:pPr>
              <a:buFontTx/>
              <a:buChar char="•"/>
            </a:pPr>
            <a:r>
              <a:rPr lang="es-ES_tradnl" sz="2000" b="1" dirty="0" smtClean="0"/>
              <a:t>Histórico - Lógico.</a:t>
            </a:r>
          </a:p>
          <a:p>
            <a:pPr lvl="1"/>
            <a:r>
              <a:rPr lang="es-ES_tradnl" sz="2000" dirty="0" smtClean="0"/>
              <a:t>Condiciones históricas que hacen posible que ocurra el problema</a:t>
            </a:r>
          </a:p>
          <a:p>
            <a:endParaRPr lang="es-ES_tradnl" sz="2000" b="1" dirty="0"/>
          </a:p>
        </p:txBody>
      </p:sp>
    </p:spTree>
    <p:extLst>
      <p:ext uri="{BB962C8B-B14F-4D97-AF65-F5344CB8AC3E}">
        <p14:creationId xmlns:p14="http://schemas.microsoft.com/office/powerpoint/2010/main" val="3347094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Rot="1" noChangeArrowheads="1"/>
          </p:cNvSpPr>
          <p:nvPr/>
        </p:nvSpPr>
        <p:spPr>
          <a:xfrm>
            <a:off x="0" y="-142609"/>
            <a:ext cx="8229600" cy="1112837"/>
          </a:xfrm>
          <a:prstGeom prst="rect">
            <a:avLst/>
          </a:prstGeom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400" b="1" dirty="0" smtClean="0">
                <a:latin typeface="+mn-lt"/>
              </a:rPr>
              <a:t>Métodos científicos</a:t>
            </a:r>
            <a:endParaRPr lang="es-ES_tradnl" sz="2400" b="1" dirty="0">
              <a:latin typeface="+mn-lt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1079714" y="917912"/>
            <a:ext cx="8622225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2000" b="1" i="0" u="none" strike="noStrike" baseline="0" dirty="0" smtClean="0"/>
              <a:t>Tipos de métodos</a:t>
            </a:r>
          </a:p>
          <a:p>
            <a:endParaRPr lang="es-ES_tradnl" sz="2000" b="1" i="0" u="none" strike="noStrike" baseline="0" dirty="0" smtClean="0"/>
          </a:p>
          <a:p>
            <a:endParaRPr lang="es-ES_tradnl" sz="2000" b="1" dirty="0" smtClean="0"/>
          </a:p>
          <a:p>
            <a:pPr>
              <a:buFontTx/>
              <a:buChar char="•"/>
            </a:pPr>
            <a:r>
              <a:rPr lang="es-ES_tradnl" sz="2000" b="1" dirty="0" smtClean="0"/>
              <a:t> Método de experto</a:t>
            </a:r>
          </a:p>
          <a:p>
            <a:pPr lvl="1"/>
            <a:r>
              <a:rPr lang="es-ES_tradnl" sz="2000" dirty="0" smtClean="0"/>
              <a:t>Un experto es una persona que posee un conocimiento específico sobre determinada área del conocimiento. Existe una gran diversidad de métodos de experto. (Método de la Ponderación de objetivos, Método Delphi,</a:t>
            </a:r>
            <a:r>
              <a:rPr lang="es-ES_tradnl" sz="2000" b="1" dirty="0" smtClean="0"/>
              <a:t> </a:t>
            </a:r>
            <a:r>
              <a:rPr lang="es-ES_tradnl" sz="2000" dirty="0" smtClean="0"/>
              <a:t>Método Electra, etc.)</a:t>
            </a:r>
          </a:p>
          <a:p>
            <a:pPr>
              <a:buFontTx/>
              <a:buChar char="•"/>
            </a:pPr>
            <a:r>
              <a:rPr lang="es-ES_tradnl" sz="2000" b="1" dirty="0" smtClean="0"/>
              <a:t>Clasificación</a:t>
            </a:r>
          </a:p>
          <a:p>
            <a:pPr lvl="1"/>
            <a:r>
              <a:rPr lang="es-ES_tradnl" sz="2000" dirty="0" smtClean="0"/>
              <a:t>Por clasificación (</a:t>
            </a:r>
            <a:r>
              <a:rPr lang="es-ES_tradnl" sz="2000" dirty="0" err="1" smtClean="0"/>
              <a:t>clustering</a:t>
            </a:r>
            <a:r>
              <a:rPr lang="es-ES_tradnl" sz="2000" dirty="0" smtClean="0"/>
              <a:t>, </a:t>
            </a:r>
            <a:r>
              <a:rPr lang="es-ES_tradnl" sz="2000" dirty="0" err="1" smtClean="0"/>
              <a:t>cluster</a:t>
            </a:r>
            <a:r>
              <a:rPr lang="es-ES_tradnl" sz="2000" dirty="0" smtClean="0"/>
              <a:t> análisis o taxonomía) se entiende a un proceso de agrupación, organización u ordenamiento de diferentes objetos en ciertas clases a las que pertenecen objetos análogos de acuerdo a cierto criterio de clasificación establecido previamente.</a:t>
            </a:r>
          </a:p>
          <a:p>
            <a:r>
              <a:rPr lang="es-ES_tradnl" sz="2000" b="1" dirty="0" smtClean="0"/>
              <a:t> </a:t>
            </a:r>
            <a:endParaRPr lang="es-ES_tradnl" sz="2000" b="1" dirty="0"/>
          </a:p>
        </p:txBody>
      </p:sp>
    </p:spTree>
    <p:extLst>
      <p:ext uri="{BB962C8B-B14F-4D97-AF65-F5344CB8AC3E}">
        <p14:creationId xmlns:p14="http://schemas.microsoft.com/office/powerpoint/2010/main" val="2358391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2365</Words>
  <Application>Microsoft Office PowerPoint</Application>
  <PresentationFormat>Personalizado</PresentationFormat>
  <Paragraphs>223</Paragraphs>
  <Slides>23</Slides>
  <Notes>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4" baseType="lpstr">
      <vt:lpstr>Tema de Office</vt:lpstr>
      <vt:lpstr>Metodología de la investigación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Ejemplo de la vista estructural de la hipótesis.</vt:lpstr>
      <vt:lpstr>Requisitos de la hipótesis.</vt:lpstr>
      <vt:lpstr>Tipos de hipótesis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Metodología de la investigación</dc:title>
  <dc:creator>Carmen T Fernandez</dc:creator>
  <cp:lastModifiedBy>carmen</cp:lastModifiedBy>
  <cp:revision>35</cp:revision>
  <dcterms:created xsi:type="dcterms:W3CDTF">2019-11-10T13:25:02Z</dcterms:created>
  <dcterms:modified xsi:type="dcterms:W3CDTF">2023-09-04T01:55:24Z</dcterms:modified>
</cp:coreProperties>
</file>