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91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4040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641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7915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8528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598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744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993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325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012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9074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768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15472-DEB4-4016-A780-42CBFE665225}" type="datetimeFigureOut">
              <a:rPr lang="es-ES_tradnl" smtClean="0"/>
              <a:t>17/02/2021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B102B-1382-4037-A2D5-27F988FB38D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2732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 smtClean="0"/>
              <a:t>Redacción de un informe de investigación</a:t>
            </a: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385819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Publicación de los resultados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smtClean="0"/>
              <a:t>Se debe tener en cuenta:</a:t>
            </a:r>
          </a:p>
          <a:p>
            <a:r>
              <a:rPr lang="es-ES" dirty="0" smtClean="0"/>
              <a:t>Comunicar </a:t>
            </a:r>
            <a:r>
              <a:rPr lang="es-ES" dirty="0"/>
              <a:t>los resultados de manera clara y de acuerdo a las características del </a:t>
            </a:r>
            <a:r>
              <a:rPr lang="es-ES" b="1" i="1" dirty="0"/>
              <a:t>receptor</a:t>
            </a:r>
            <a:r>
              <a:rPr lang="es-ES" dirty="0"/>
              <a:t>. </a:t>
            </a:r>
            <a:endParaRPr lang="es-ES" dirty="0" smtClean="0"/>
          </a:p>
          <a:p>
            <a:r>
              <a:rPr lang="es-ES" dirty="0" smtClean="0"/>
              <a:t>Determinar </a:t>
            </a:r>
            <a:r>
              <a:rPr lang="es-ES" dirty="0"/>
              <a:t>¿cuál es el contexto en que habrán de presentarse los resultados? ¿quiénes son los usuarios de los resultados? ¿cuáles son las características de estos usuarios?.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7035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Publicación de los resultados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r>
              <a:rPr lang="es-ES" b="1" dirty="0"/>
              <a:t>Contexto académico. </a:t>
            </a:r>
            <a:r>
              <a:rPr lang="es-ES" dirty="0"/>
              <a:t>El auditorio esta formado por profesores-investigadores y estudiantes de una institución de educación superior, lectores con niveles educativos elevados, miembros de una agencia de investigación e individuos con perfil similar. </a:t>
            </a:r>
            <a:endParaRPr lang="es-ES" dirty="0" smtClean="0"/>
          </a:p>
          <a:p>
            <a:endParaRPr lang="es-ES" dirty="0" smtClean="0"/>
          </a:p>
          <a:p>
            <a:r>
              <a:rPr lang="es-ES" b="1" dirty="0" smtClean="0"/>
              <a:t>Contexto </a:t>
            </a:r>
            <a:r>
              <a:rPr lang="es-ES" b="1" dirty="0"/>
              <a:t>no académico. </a:t>
            </a:r>
            <a:r>
              <a:rPr lang="es-ES" dirty="0"/>
              <a:t>El reporte de investigación es un documento donde se describe el estudio realizado (qué investigación se llevó a cabo, cómo se realizó, qué resultados y conclusiones se obtuvieron). </a:t>
            </a:r>
          </a:p>
        </p:txBody>
      </p:sp>
    </p:spTree>
    <p:extLst>
      <p:ext uri="{BB962C8B-B14F-4D97-AF65-F5344CB8AC3E}">
        <p14:creationId xmlns:p14="http://schemas.microsoft.com/office/powerpoint/2010/main" val="158006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Publicación de los resultados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s-ES" dirty="0" smtClean="0"/>
              <a:t>La redacción debe:</a:t>
            </a:r>
            <a:endParaRPr lang="es-ES_tradnl" dirty="0"/>
          </a:p>
          <a:p>
            <a:r>
              <a:rPr lang="es-ES" b="1" dirty="0" smtClean="0"/>
              <a:t>Unidad</a:t>
            </a:r>
            <a:r>
              <a:rPr lang="es-ES" dirty="0" smtClean="0"/>
              <a:t>: Concordancia entre problema, demostración y conclusiones. La resolución del problema debe ser demostrado mediante el razonamiento lógico de los resultados y conducir a conclusiones. </a:t>
            </a:r>
          </a:p>
          <a:p>
            <a:r>
              <a:rPr lang="es-ES" b="1" dirty="0" smtClean="0"/>
              <a:t>Originalidad</a:t>
            </a:r>
            <a:r>
              <a:rPr lang="es-ES" dirty="0" smtClean="0"/>
              <a:t>:  Se se logra mediante el análisis de los intentos realizados anteriormente por otros investigadores, o por el propio investigador, de resolver el problema. </a:t>
            </a:r>
          </a:p>
          <a:p>
            <a:pPr marL="0" indent="0">
              <a:buNone/>
            </a:pPr>
            <a:r>
              <a:rPr lang="es-ES" dirty="0" smtClean="0"/>
              <a:t>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3793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Redacción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4665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Debe </a:t>
            </a:r>
            <a:r>
              <a:rPr lang="es-ES" b="1" dirty="0"/>
              <a:t>mostrarse dominio de los términos empleados</a:t>
            </a:r>
            <a:r>
              <a:rPr lang="es-ES" dirty="0"/>
              <a:t>, así como del área de investigación donde desarrolla la tesis</a:t>
            </a:r>
            <a:r>
              <a:rPr lang="es-ES" dirty="0" smtClean="0"/>
              <a:t>.</a:t>
            </a:r>
          </a:p>
          <a:p>
            <a:r>
              <a:rPr lang="es-ES" dirty="0" smtClean="0"/>
              <a:t> </a:t>
            </a:r>
            <a:r>
              <a:rPr lang="es-ES" dirty="0"/>
              <a:t>La </a:t>
            </a:r>
            <a:r>
              <a:rPr lang="es-ES" dirty="0" smtClean="0"/>
              <a:t>escritura </a:t>
            </a:r>
            <a:r>
              <a:rPr lang="es-ES" dirty="0"/>
              <a:t>debe ser </a:t>
            </a:r>
            <a:r>
              <a:rPr lang="es-ES" dirty="0" smtClean="0"/>
              <a:t>clara, sencilla y accesible</a:t>
            </a:r>
            <a:r>
              <a:rPr lang="es-ES" dirty="0"/>
              <a:t>, explicar con pocas palabras, y saber ilustrar los conceptos difíciles de comprender mediante ejemplos u otras formas. </a:t>
            </a:r>
            <a:endParaRPr lang="es-ES" dirty="0" smtClean="0"/>
          </a:p>
          <a:p>
            <a:r>
              <a:rPr lang="es-ES" b="1" dirty="0" smtClean="0"/>
              <a:t>El </a:t>
            </a:r>
            <a:r>
              <a:rPr lang="es-ES" b="1" dirty="0"/>
              <a:t>vocabulario </a:t>
            </a:r>
            <a:r>
              <a:rPr lang="es-ES" dirty="0"/>
              <a:t>debe estar al alcance de los lectores, no se deben usar palabras ambiguas, vagas, jerga. </a:t>
            </a:r>
            <a:endParaRPr lang="es-ES" dirty="0" smtClean="0"/>
          </a:p>
          <a:p>
            <a:r>
              <a:rPr lang="es-ES" b="1" dirty="0" smtClean="0"/>
              <a:t>Abreviaturas</a:t>
            </a:r>
            <a:r>
              <a:rPr lang="es-ES" dirty="0"/>
              <a:t>. </a:t>
            </a:r>
            <a:r>
              <a:rPr lang="es-ES" dirty="0" smtClean="0"/>
              <a:t>Deben ser usadas </a:t>
            </a:r>
            <a:r>
              <a:rPr lang="es-ES" dirty="0"/>
              <a:t>cuidadosamente para no confundir al lector. </a:t>
            </a:r>
            <a:endParaRPr lang="es-ES" dirty="0" smtClean="0"/>
          </a:p>
          <a:p>
            <a:r>
              <a:rPr lang="es-ES" b="1" dirty="0" smtClean="0"/>
              <a:t>Estilo</a:t>
            </a:r>
            <a:r>
              <a:rPr lang="es-ES" dirty="0"/>
              <a:t>: Se debe escribir en un estilo sobrio y mesurado, nunca en los extremos, ampuloso o ligero. </a:t>
            </a:r>
            <a:endParaRPr lang="es-ES" dirty="0" smtClean="0"/>
          </a:p>
          <a:p>
            <a:r>
              <a:rPr lang="es-ES" b="1" dirty="0" smtClean="0"/>
              <a:t>Ubicación </a:t>
            </a:r>
            <a:r>
              <a:rPr lang="es-ES" b="1" dirty="0"/>
              <a:t>geográfica</a:t>
            </a:r>
            <a:r>
              <a:rPr lang="es-ES" dirty="0"/>
              <a:t>. Debe especificarse la región, el país donde se realiza el estudio. </a:t>
            </a:r>
            <a:endParaRPr lang="es-ES" dirty="0" smtClean="0"/>
          </a:p>
          <a:p>
            <a:r>
              <a:rPr lang="es-ES" b="1" dirty="0" smtClean="0"/>
              <a:t>Escritura </a:t>
            </a:r>
            <a:r>
              <a:rPr lang="es-ES" b="1" dirty="0"/>
              <a:t>impersonal</a:t>
            </a:r>
            <a:r>
              <a:rPr lang="es-ES" dirty="0"/>
              <a:t>. En </a:t>
            </a:r>
            <a:r>
              <a:rPr lang="es-ES" b="1" u="sng" dirty="0"/>
              <a:t>tercera persona del singular</a:t>
            </a:r>
            <a:r>
              <a:rPr lang="es-ES" dirty="0"/>
              <a:t>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78129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Redacción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46654"/>
            <a:ext cx="10515600" cy="517961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s-ES" b="1" dirty="0"/>
              <a:t>Sinónimos</a:t>
            </a:r>
            <a:r>
              <a:rPr lang="es-ES" dirty="0"/>
              <a:t>: Cuando se empleen sinónimos para aumentar la riqueza del léxico, debe cuidarse que la palabra afín tenga el significado que se busca y armonice en el texto.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Redundancia</a:t>
            </a:r>
            <a:r>
              <a:rPr lang="es-ES" dirty="0"/>
              <a:t>. Es tan común en el lenguaje anecdótico, cotidiano, sin embargo, en la escritura científica se debe cuidar este aspecto.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Concordancia</a:t>
            </a:r>
            <a:r>
              <a:rPr lang="es-ES" b="1" dirty="0"/>
              <a:t>: </a:t>
            </a:r>
            <a:r>
              <a:rPr lang="es-ES" dirty="0"/>
              <a:t>el sujeto y el verbo tienen que concordar en tiempo.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Uso </a:t>
            </a:r>
            <a:r>
              <a:rPr lang="es-ES" b="1" dirty="0"/>
              <a:t>de Siglas </a:t>
            </a:r>
            <a:r>
              <a:rPr lang="es-ES" dirty="0"/>
              <a:t>No se debe abusar de las siglas. (Universidad de La Habana (UH)).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El </a:t>
            </a:r>
            <a:r>
              <a:rPr lang="es-ES" b="1" dirty="0" err="1"/>
              <a:t>guión</a:t>
            </a:r>
            <a:r>
              <a:rPr lang="es-ES" b="1" dirty="0"/>
              <a:t> </a:t>
            </a:r>
            <a:r>
              <a:rPr lang="es-ES" dirty="0"/>
              <a:t>se usa para unir palabras.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Los </a:t>
            </a:r>
            <a:r>
              <a:rPr lang="es-ES" b="1" dirty="0"/>
              <a:t>paréntesis </a:t>
            </a:r>
            <a:r>
              <a:rPr lang="es-ES" dirty="0"/>
              <a:t>se usan para encerrar palabras o frases aclaratorias de lo que se esta expresando, y que podrían ser suprimidas sin alterar el texto.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No </a:t>
            </a:r>
            <a:r>
              <a:rPr lang="es-ES" b="1" dirty="0"/>
              <a:t>se debe usar la negación doble</a:t>
            </a:r>
            <a:r>
              <a:rPr lang="es-ES" dirty="0"/>
              <a:t>, por ejemplo</a:t>
            </a:r>
            <a:r>
              <a:rPr lang="es-ES" dirty="0" smtClean="0"/>
              <a:t>: </a:t>
            </a:r>
            <a:r>
              <a:rPr lang="es-ES" dirty="0"/>
              <a:t>no es imposible, </a:t>
            </a:r>
            <a:r>
              <a:rPr lang="es-ES" dirty="0" smtClean="0"/>
              <a:t>etc.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5436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Redacción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46654"/>
            <a:ext cx="10515600" cy="5179610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s-ES" b="1" dirty="0"/>
              <a:t>Oraciones y párrafos</a:t>
            </a:r>
            <a:r>
              <a:rPr lang="es-ES" b="1" dirty="0" smtClean="0"/>
              <a:t>.</a:t>
            </a:r>
            <a:r>
              <a:rPr lang="es-ES" dirty="0" smtClean="0"/>
              <a:t> </a:t>
            </a:r>
            <a:r>
              <a:rPr lang="es-ES" dirty="0"/>
              <a:t>Es recomendable que los párrafos tengan un promedio e 7 a 14 líneas, aunque es mejor alternar párrafos de esa longitud con párrafos de 5 a 6 líneas.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b="1" dirty="0" smtClean="0"/>
              <a:t>Los </a:t>
            </a:r>
            <a:r>
              <a:rPr lang="es-ES" b="1" dirty="0"/>
              <a:t>tiempos verbales</a:t>
            </a:r>
            <a:r>
              <a:rPr lang="es-ES" b="1" dirty="0" smtClean="0"/>
              <a:t>:</a:t>
            </a:r>
          </a:p>
          <a:p>
            <a:pPr>
              <a:spcAft>
                <a:spcPts val="600"/>
              </a:spcAft>
            </a:pPr>
            <a:r>
              <a:rPr lang="es-ES" b="1" dirty="0" smtClean="0"/>
              <a:t> </a:t>
            </a:r>
            <a:r>
              <a:rPr lang="es-ES" dirty="0"/>
              <a:t>§ El </a:t>
            </a:r>
            <a:r>
              <a:rPr lang="es-ES" b="1" dirty="0"/>
              <a:t>resumen</a:t>
            </a:r>
            <a:r>
              <a:rPr lang="es-ES" dirty="0"/>
              <a:t>, se redacta en </a:t>
            </a:r>
            <a:r>
              <a:rPr lang="es-ES" b="1" dirty="0"/>
              <a:t>pasado</a:t>
            </a:r>
            <a:r>
              <a:rPr lang="es-ES" dirty="0"/>
              <a:t>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dirty="0" smtClean="0"/>
              <a:t>§ </a:t>
            </a:r>
            <a:r>
              <a:rPr lang="es-ES" dirty="0"/>
              <a:t>La </a:t>
            </a:r>
            <a:r>
              <a:rPr lang="es-ES" b="1" dirty="0"/>
              <a:t>introducción</a:t>
            </a:r>
            <a:r>
              <a:rPr lang="es-ES" dirty="0"/>
              <a:t>, </a:t>
            </a:r>
            <a:r>
              <a:rPr lang="es-ES" b="1" dirty="0"/>
              <a:t>fundamentación</a:t>
            </a:r>
            <a:r>
              <a:rPr lang="es-ES" dirty="0"/>
              <a:t> y </a:t>
            </a:r>
            <a:r>
              <a:rPr lang="es-ES" b="1" dirty="0"/>
              <a:t>marco teórico</a:t>
            </a:r>
            <a:r>
              <a:rPr lang="es-ES" dirty="0"/>
              <a:t> se redacta en </a:t>
            </a:r>
            <a:r>
              <a:rPr lang="es-ES" b="1" dirty="0"/>
              <a:t>presente</a:t>
            </a:r>
            <a:r>
              <a:rPr lang="es-ES" dirty="0"/>
              <a:t>, pues son aspectos válidos hasta el momento y que mantienen su vigencia en el tiempo.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dirty="0" smtClean="0"/>
              <a:t>§ Los </a:t>
            </a:r>
            <a:r>
              <a:rPr lang="es-ES" b="1" dirty="0" smtClean="0"/>
              <a:t>método utilizados, el modelo, el diseño y </a:t>
            </a:r>
            <a:r>
              <a:rPr lang="es-ES" b="1" dirty="0"/>
              <a:t>los procedimientos </a:t>
            </a:r>
            <a:r>
              <a:rPr lang="es-ES" b="1" dirty="0" smtClean="0"/>
              <a:t>o implementación, </a:t>
            </a:r>
            <a:r>
              <a:rPr lang="es-ES" dirty="0" smtClean="0"/>
              <a:t>se </a:t>
            </a:r>
            <a:r>
              <a:rPr lang="es-ES" dirty="0"/>
              <a:t>escriben en </a:t>
            </a:r>
            <a:r>
              <a:rPr lang="es-ES" b="1" dirty="0"/>
              <a:t>pasado</a:t>
            </a:r>
            <a:r>
              <a:rPr lang="es-ES" dirty="0"/>
              <a:t>, pues representan acciones ya realizadas. (En el perfil del proyecto se escriben en futuro) </a:t>
            </a:r>
            <a:endParaRPr lang="es-ES" dirty="0" smtClean="0"/>
          </a:p>
          <a:p>
            <a:pPr>
              <a:spcAft>
                <a:spcPts val="600"/>
              </a:spcAft>
            </a:pPr>
            <a:r>
              <a:rPr lang="es-ES" dirty="0" smtClean="0"/>
              <a:t>§ </a:t>
            </a:r>
            <a:r>
              <a:rPr lang="es-ES" dirty="0"/>
              <a:t>Los </a:t>
            </a:r>
            <a:r>
              <a:rPr lang="es-ES" b="1" dirty="0" smtClean="0"/>
              <a:t>resultados, las discusiones y las conclusiones </a:t>
            </a:r>
            <a:r>
              <a:rPr lang="es-ES" dirty="0" smtClean="0"/>
              <a:t>se </a:t>
            </a:r>
            <a:r>
              <a:rPr lang="es-ES" dirty="0"/>
              <a:t>escriben en </a:t>
            </a:r>
            <a:r>
              <a:rPr lang="es-ES" b="1" dirty="0"/>
              <a:t>pasado</a:t>
            </a:r>
            <a:r>
              <a:rPr lang="es-ES" dirty="0"/>
              <a:t>, pues fueron encontrados mucho antes de escribir </a:t>
            </a:r>
            <a:r>
              <a:rPr lang="es-ES" dirty="0" smtClean="0"/>
              <a:t>el documento.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06775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Esquema de publicación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 smtClean="0"/>
              <a:t>Portada (autor(es), centro de trabajo o estudio, localización, etc.) </a:t>
            </a:r>
            <a:endParaRPr lang="es-ES_tradnl" dirty="0"/>
          </a:p>
          <a:p>
            <a:r>
              <a:rPr lang="es-ES_tradnl" dirty="0"/>
              <a:t>Índice </a:t>
            </a:r>
          </a:p>
          <a:p>
            <a:r>
              <a:rPr lang="es-ES_tradnl" dirty="0"/>
              <a:t>Resumen </a:t>
            </a:r>
          </a:p>
          <a:p>
            <a:r>
              <a:rPr lang="es-ES_tradnl" dirty="0"/>
              <a:t>Introducción </a:t>
            </a:r>
          </a:p>
          <a:p>
            <a:r>
              <a:rPr lang="es-ES_tradnl" dirty="0"/>
              <a:t>Marco teórico </a:t>
            </a:r>
          </a:p>
          <a:p>
            <a:r>
              <a:rPr lang="es-ES_tradnl" dirty="0" smtClean="0"/>
              <a:t>Métodos (Modelo, Diseño, Implementación)</a:t>
            </a:r>
            <a:endParaRPr lang="es-ES_tradnl" dirty="0"/>
          </a:p>
          <a:p>
            <a:r>
              <a:rPr lang="es-ES_tradnl" dirty="0"/>
              <a:t>Resultados </a:t>
            </a:r>
          </a:p>
          <a:p>
            <a:r>
              <a:rPr lang="es-ES_tradnl" dirty="0"/>
              <a:t>Conclusiones y Recomendaciones </a:t>
            </a:r>
          </a:p>
          <a:p>
            <a:r>
              <a:rPr lang="es-ES_tradnl" dirty="0" err="1"/>
              <a:t>Ápendices</a:t>
            </a:r>
            <a:r>
              <a:rPr lang="es-ES_tradnl" dirty="0"/>
              <a:t> o Anexos 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57819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227" y="2324746"/>
            <a:ext cx="10515600" cy="1845671"/>
          </a:xfrm>
        </p:spPr>
        <p:txBody>
          <a:bodyPr>
            <a:normAutofit fontScale="90000"/>
          </a:bodyPr>
          <a:lstStyle/>
          <a:p>
            <a:pPr algn="ctr"/>
            <a:r>
              <a:rPr lang="es-E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Escritura de una tesis de grado </a:t>
            </a:r>
            <a: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/>
            </a:r>
            <a:br>
              <a:rPr lang="es-ES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s-E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en </a:t>
            </a:r>
            <a:br>
              <a:rPr lang="es-E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s-ES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Ciencia de la Computación</a:t>
            </a:r>
            <a:endParaRPr lang="es-ES_tradnl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952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¿Qué se espera del trabajo de tesis?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69263"/>
          </a:xfrm>
        </p:spPr>
        <p:txBody>
          <a:bodyPr/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s-ES" dirty="0" smtClean="0"/>
              <a:t>Que </a:t>
            </a:r>
            <a:r>
              <a:rPr lang="es-ES" dirty="0"/>
              <a:t>contenga una propuesta de innovación acorde con el perfil del egresado de en la especialidad de Ciencia de la Computación. 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s-ES" dirty="0" smtClean="0"/>
              <a:t>Que </a:t>
            </a:r>
            <a:r>
              <a:rPr lang="es-ES" dirty="0"/>
              <a:t>cumpla con los requisitos de toda obra académica rigurosa. 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s-ES" dirty="0" smtClean="0"/>
              <a:t>Su </a:t>
            </a:r>
            <a:r>
              <a:rPr lang="es-ES" dirty="0"/>
              <a:t>contenido debe reflejar la integración de conocimientos adquiridos en la carrera y sus habilidades para emprender una investigación. </a:t>
            </a:r>
          </a:p>
          <a:p>
            <a:pPr>
              <a:spcBef>
                <a:spcPts val="1800"/>
              </a:spcBef>
              <a:spcAft>
                <a:spcPts val="600"/>
              </a:spcAft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51776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¿Qué se espera del trabajo de tesis?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19" y="1763631"/>
            <a:ext cx="11079997" cy="465266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s-ES" dirty="0" smtClean="0"/>
              <a:t>Se </a:t>
            </a:r>
            <a:r>
              <a:rPr lang="es-ES" dirty="0"/>
              <a:t>trata de ordenar, sistematizar con coherencia, estilo personal y fundamentación sólida la misma. 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No </a:t>
            </a:r>
            <a:r>
              <a:rPr lang="es-ES" dirty="0"/>
              <a:t>se </a:t>
            </a:r>
            <a:r>
              <a:rPr lang="es-ES" dirty="0" smtClean="0"/>
              <a:t>deben mostrar todos los aspectos detallados </a:t>
            </a:r>
            <a:r>
              <a:rPr lang="es-ES" dirty="0"/>
              <a:t>del proceso de investigación o elaboración. 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Se debe escribir los </a:t>
            </a:r>
            <a:r>
              <a:rPr lang="es-ES" dirty="0"/>
              <a:t>elementos que se consideran fundamentales para reflejar, entre otros: </a:t>
            </a:r>
            <a:r>
              <a:rPr lang="es-ES" b="1" i="1" dirty="0"/>
              <a:t>Qué, Por qué, para qué y cómo se realizó el trabajo</a:t>
            </a:r>
            <a:r>
              <a:rPr lang="es-ES" dirty="0"/>
              <a:t>. </a:t>
            </a:r>
          </a:p>
          <a:p>
            <a:pPr>
              <a:spcAft>
                <a:spcPts val="600"/>
              </a:spcAft>
            </a:pPr>
            <a:r>
              <a:rPr lang="es-ES" dirty="0"/>
              <a:t>Cuál es el objeto de </a:t>
            </a:r>
            <a:r>
              <a:rPr lang="es-ES" dirty="0" smtClean="0"/>
              <a:t>estudio y en qué contexto se utilizará, así como en </a:t>
            </a:r>
            <a:r>
              <a:rPr lang="es-ES" dirty="0"/>
              <a:t>qué forma se abordó el mismo. </a:t>
            </a:r>
          </a:p>
          <a:p>
            <a:pPr>
              <a:spcAft>
                <a:spcPts val="600"/>
              </a:spcAft>
            </a:pPr>
            <a:r>
              <a:rPr lang="es-ES" dirty="0"/>
              <a:t>Los resultados, conclusiones y recomendaciones a las que se arribó. </a:t>
            </a:r>
          </a:p>
          <a:p>
            <a:pPr>
              <a:spcAft>
                <a:spcPts val="600"/>
              </a:spcAft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8371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Aspectos formales de una tesis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6721" y="1532531"/>
            <a:ext cx="11079997" cy="4652667"/>
          </a:xfrm>
        </p:spPr>
        <p:txBody>
          <a:bodyPr>
            <a:noAutofit/>
          </a:bodyPr>
          <a:lstStyle/>
          <a:p>
            <a:r>
              <a:rPr lang="es-ES" dirty="0" smtClean="0"/>
              <a:t>Debe </a:t>
            </a:r>
            <a:r>
              <a:rPr lang="es-ES" dirty="0"/>
              <a:t>ser </a:t>
            </a:r>
            <a:r>
              <a:rPr lang="es-ES" b="1" dirty="0" smtClean="0"/>
              <a:t>individual</a:t>
            </a:r>
          </a:p>
          <a:p>
            <a:r>
              <a:rPr lang="es-ES" dirty="0" smtClean="0"/>
              <a:t> </a:t>
            </a:r>
            <a:r>
              <a:rPr lang="es-ES" dirty="0"/>
              <a:t>Extensión : </a:t>
            </a:r>
            <a:r>
              <a:rPr lang="es-ES" b="1" i="1" dirty="0"/>
              <a:t>no mayor de 50 </a:t>
            </a:r>
            <a:r>
              <a:rPr lang="es-ES" b="1" i="1" dirty="0" smtClean="0"/>
              <a:t>a 60 cuartillas</a:t>
            </a:r>
            <a:r>
              <a:rPr lang="es-ES" dirty="0"/>
              <a:t>, </a:t>
            </a:r>
            <a:r>
              <a:rPr lang="es-ES" dirty="0" smtClean="0"/>
              <a:t> incluyendo </a:t>
            </a:r>
            <a:r>
              <a:rPr lang="es-ES" dirty="0"/>
              <a:t>gráficos, esquemas, tablas, apéndices y bibliografía</a:t>
            </a:r>
            <a:r>
              <a:rPr lang="es-ES" dirty="0" smtClean="0"/>
              <a:t>.</a:t>
            </a:r>
          </a:p>
          <a:p>
            <a:r>
              <a:rPr lang="es-ES" dirty="0" smtClean="0"/>
              <a:t> </a:t>
            </a:r>
            <a:r>
              <a:rPr lang="es-ES" dirty="0"/>
              <a:t>Tipo y Tamaño de fuente : </a:t>
            </a:r>
            <a:r>
              <a:rPr lang="es-ES" b="1" dirty="0"/>
              <a:t>Arial </a:t>
            </a:r>
            <a:r>
              <a:rPr lang="es-ES" b="1" dirty="0" smtClean="0"/>
              <a:t>12, </a:t>
            </a:r>
            <a:r>
              <a:rPr lang="es-ES" dirty="0"/>
              <a:t>Interlineado: </a:t>
            </a:r>
            <a:r>
              <a:rPr lang="es-ES" b="1" dirty="0"/>
              <a:t>espacio y </a:t>
            </a:r>
            <a:r>
              <a:rPr lang="es-ES" b="1" dirty="0" smtClean="0"/>
              <a:t>medio, </a:t>
            </a:r>
            <a:r>
              <a:rPr lang="es-ES" dirty="0" smtClean="0"/>
              <a:t>espacio entre párrafos </a:t>
            </a:r>
            <a:r>
              <a:rPr lang="es-ES" b="1" dirty="0" smtClean="0"/>
              <a:t>6 puntos.</a:t>
            </a:r>
          </a:p>
          <a:p>
            <a:r>
              <a:rPr lang="es-ES" dirty="0" smtClean="0"/>
              <a:t>Debe definirse capítulos y epígrafes para ordenar la información que se presenta.</a:t>
            </a:r>
          </a:p>
          <a:p>
            <a:r>
              <a:rPr lang="es-ES" dirty="0" smtClean="0"/>
              <a:t>No existen restricciones </a:t>
            </a:r>
            <a:r>
              <a:rPr lang="es-ES" dirty="0"/>
              <a:t>en: tipo de </a:t>
            </a:r>
            <a:r>
              <a:rPr lang="es-ES" dirty="0" smtClean="0"/>
              <a:t>hoja, márgenes </a:t>
            </a:r>
            <a:r>
              <a:rPr lang="es-ES" dirty="0"/>
              <a:t>y </a:t>
            </a:r>
            <a:r>
              <a:rPr lang="es-ES" dirty="0" smtClean="0"/>
              <a:t>encuadernación, aunque estas últimas </a:t>
            </a:r>
            <a:r>
              <a:rPr lang="es-ES" i="1" dirty="0" smtClean="0"/>
              <a:t>deben</a:t>
            </a:r>
            <a:r>
              <a:rPr lang="es-ES" dirty="0" smtClean="0"/>
              <a:t> ser las </a:t>
            </a:r>
            <a:r>
              <a:rPr lang="es-ES" i="1" dirty="0" smtClean="0"/>
              <a:t>normales</a:t>
            </a:r>
            <a:r>
              <a:rPr lang="es-ES" dirty="0" smtClean="0"/>
              <a:t>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7134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Reglas de elaboración de la tesis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6721" y="1532531"/>
            <a:ext cx="11079997" cy="4652667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s-ES_tradnl" dirty="0" smtClean="0"/>
              <a:t>Precisión </a:t>
            </a:r>
            <a:r>
              <a:rPr lang="es-ES_tradnl" dirty="0"/>
              <a:t>en el lenguaje. </a:t>
            </a:r>
          </a:p>
          <a:p>
            <a:pPr>
              <a:spcAft>
                <a:spcPts val="1200"/>
              </a:spcAft>
            </a:pPr>
            <a:r>
              <a:rPr lang="es-ES" dirty="0" smtClean="0"/>
              <a:t>Lógica </a:t>
            </a:r>
            <a:r>
              <a:rPr lang="es-ES" dirty="0"/>
              <a:t>en la </a:t>
            </a:r>
            <a:r>
              <a:rPr lang="es-ES" dirty="0" err="1"/>
              <a:t>consecutividad</a:t>
            </a:r>
            <a:r>
              <a:rPr lang="es-ES" dirty="0"/>
              <a:t> de la exposición. </a:t>
            </a:r>
          </a:p>
          <a:p>
            <a:pPr>
              <a:spcAft>
                <a:spcPts val="1200"/>
              </a:spcAft>
            </a:pPr>
            <a:r>
              <a:rPr lang="es-ES" dirty="0" smtClean="0"/>
              <a:t>Libertad </a:t>
            </a:r>
            <a:r>
              <a:rPr lang="es-ES" dirty="0"/>
              <a:t>y creatividad en la elaboración de la tesis . </a:t>
            </a:r>
          </a:p>
          <a:p>
            <a:pPr>
              <a:spcAft>
                <a:spcPts val="1200"/>
              </a:spcAft>
            </a:pPr>
            <a:r>
              <a:rPr lang="es-ES" dirty="0" smtClean="0"/>
              <a:t>Uso </a:t>
            </a:r>
            <a:r>
              <a:rPr lang="es-ES" dirty="0"/>
              <a:t>adecuado de la lengua.</a:t>
            </a:r>
          </a:p>
        </p:txBody>
      </p:sp>
    </p:spTree>
    <p:extLst>
      <p:ext uri="{BB962C8B-B14F-4D97-AF65-F5344CB8AC3E}">
        <p14:creationId xmlns:p14="http://schemas.microsoft.com/office/powerpoint/2010/main" val="340905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Estructura de la tesis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6722" y="1532531"/>
            <a:ext cx="10723536" cy="4000364"/>
          </a:xfrm>
        </p:spPr>
        <p:txBody>
          <a:bodyPr numCol="2">
            <a:noAutofit/>
          </a:bodyPr>
          <a:lstStyle/>
          <a:p>
            <a:r>
              <a:rPr lang="es-ES_tradnl" dirty="0" smtClean="0"/>
              <a:t>Portada </a:t>
            </a:r>
            <a:endParaRPr lang="es-ES_tradnl" dirty="0"/>
          </a:p>
          <a:p>
            <a:r>
              <a:rPr lang="es-ES_tradnl" dirty="0" smtClean="0"/>
              <a:t>Dedicatoria (opcional)</a:t>
            </a:r>
          </a:p>
          <a:p>
            <a:r>
              <a:rPr lang="es-ES_tradnl" dirty="0" smtClean="0"/>
              <a:t>Agradecimientos </a:t>
            </a:r>
            <a:r>
              <a:rPr lang="es-ES_tradnl" dirty="0"/>
              <a:t>(opcional) </a:t>
            </a:r>
          </a:p>
          <a:p>
            <a:r>
              <a:rPr lang="es-ES_tradnl" dirty="0"/>
              <a:t>Índice </a:t>
            </a:r>
          </a:p>
          <a:p>
            <a:r>
              <a:rPr lang="es-ES_tradnl" dirty="0"/>
              <a:t>Síntesis o resumen </a:t>
            </a:r>
            <a:endParaRPr lang="es-ES_tradnl" dirty="0" smtClean="0"/>
          </a:p>
          <a:p>
            <a:r>
              <a:rPr lang="es-ES" dirty="0" err="1" smtClean="0"/>
              <a:t>Abstract</a:t>
            </a:r>
            <a:endParaRPr lang="es-ES_tradnl" dirty="0"/>
          </a:p>
          <a:p>
            <a:r>
              <a:rPr lang="es-ES_tradnl" dirty="0"/>
              <a:t>Introducción </a:t>
            </a:r>
          </a:p>
          <a:p>
            <a:r>
              <a:rPr lang="es-ES_tradnl" dirty="0"/>
              <a:t>Desarrollo </a:t>
            </a:r>
            <a:r>
              <a:rPr lang="es-ES_tradnl" dirty="0" smtClean="0"/>
              <a:t>(incluyen capítulos y epígrafes)</a:t>
            </a:r>
            <a:endParaRPr lang="es-ES_tradnl" dirty="0"/>
          </a:p>
          <a:p>
            <a:r>
              <a:rPr lang="es-ES_tradnl" dirty="0"/>
              <a:t>Conclusiones </a:t>
            </a:r>
          </a:p>
          <a:p>
            <a:r>
              <a:rPr lang="es-ES_tradnl" dirty="0"/>
              <a:t>Recomendaciones </a:t>
            </a:r>
          </a:p>
          <a:p>
            <a:r>
              <a:rPr lang="es-ES_tradnl" dirty="0" smtClean="0"/>
              <a:t>Referencias bibliográficas</a:t>
            </a:r>
          </a:p>
          <a:p>
            <a:r>
              <a:rPr lang="es-ES_tradnl" dirty="0" smtClean="0"/>
              <a:t>Bibliografía </a:t>
            </a:r>
            <a:endParaRPr lang="es-ES_tradnl" dirty="0"/>
          </a:p>
          <a:p>
            <a:r>
              <a:rPr lang="es-ES_tradnl" dirty="0"/>
              <a:t>Anexos </a:t>
            </a:r>
            <a:r>
              <a:rPr lang="es-ES_tradnl" dirty="0" smtClean="0"/>
              <a:t>(opcional)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1639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Portada</a:t>
            </a:r>
            <a:endParaRPr lang="es-ES_tradnl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722" y="1810795"/>
            <a:ext cx="2261462" cy="3004031"/>
          </a:xfrm>
          <a:prstGeom prst="rect">
            <a:avLst/>
          </a:prstGeom>
        </p:spPr>
      </p:pic>
      <p:grpSp>
        <p:nvGrpSpPr>
          <p:cNvPr id="8" name="Grupo 7"/>
          <p:cNvGrpSpPr/>
          <p:nvPr/>
        </p:nvGrpSpPr>
        <p:grpSpPr>
          <a:xfrm>
            <a:off x="6080735" y="0"/>
            <a:ext cx="4751521" cy="6463308"/>
            <a:chOff x="6080735" y="0"/>
            <a:chExt cx="4751521" cy="6463308"/>
          </a:xfrm>
        </p:grpSpPr>
        <p:sp>
          <p:nvSpPr>
            <p:cNvPr id="6" name="CuadroTexto 5"/>
            <p:cNvSpPr txBox="1"/>
            <p:nvPr/>
          </p:nvSpPr>
          <p:spPr>
            <a:xfrm>
              <a:off x="6080735" y="0"/>
              <a:ext cx="4751521" cy="64633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s-ES_tradnl" dirty="0"/>
            </a:p>
            <a:p>
              <a:pPr algn="ctr"/>
              <a:r>
                <a:rPr lang="es-ES" b="1" dirty="0"/>
                <a:t>Facultad de Matemática y Computación </a:t>
              </a:r>
              <a:endParaRPr lang="es-ES" b="1" dirty="0" smtClean="0"/>
            </a:p>
            <a:p>
              <a:pPr algn="ctr"/>
              <a:r>
                <a:rPr lang="es-ES" b="1" dirty="0" smtClean="0"/>
                <a:t>Universidad </a:t>
              </a:r>
              <a:r>
                <a:rPr lang="es-ES" b="1" dirty="0"/>
                <a:t>de La Habana </a:t>
              </a:r>
              <a:endParaRPr lang="es-ES" b="1" dirty="0" smtClean="0"/>
            </a:p>
            <a:p>
              <a:pPr algn="ctr"/>
              <a:endParaRPr lang="es-ES" b="1" dirty="0"/>
            </a:p>
            <a:p>
              <a:pPr algn="ctr"/>
              <a:endParaRPr lang="es-ES" b="1" dirty="0" smtClean="0"/>
            </a:p>
            <a:p>
              <a:pPr algn="ctr"/>
              <a:endParaRPr lang="es-ES" b="1" dirty="0"/>
            </a:p>
            <a:p>
              <a:pPr algn="ctr"/>
              <a:endParaRPr lang="es-ES" b="1" dirty="0" smtClean="0"/>
            </a:p>
            <a:p>
              <a:pPr algn="ctr"/>
              <a:r>
                <a:rPr lang="es-ES" b="1" dirty="0" smtClean="0"/>
                <a:t>Tesis </a:t>
              </a:r>
              <a:r>
                <a:rPr lang="es-ES" b="1" dirty="0"/>
                <a:t>de diploma de la </a:t>
              </a:r>
              <a:r>
                <a:rPr lang="es-ES" b="1" dirty="0" smtClean="0"/>
                <a:t>carrera</a:t>
              </a:r>
            </a:p>
            <a:p>
              <a:pPr algn="ctr"/>
              <a:r>
                <a:rPr lang="es-ES" b="1" dirty="0" smtClean="0"/>
                <a:t> </a:t>
              </a:r>
              <a:r>
                <a:rPr lang="es-ES" b="1" dirty="0"/>
                <a:t>Ciencia de la Computación </a:t>
              </a:r>
              <a:endParaRPr lang="es-ES" b="1" dirty="0" smtClean="0"/>
            </a:p>
            <a:p>
              <a:pPr algn="ctr"/>
              <a:endParaRPr lang="es-ES" b="1" dirty="0" smtClean="0"/>
            </a:p>
            <a:p>
              <a:pPr algn="ctr"/>
              <a:endParaRPr lang="es-ES" b="1" dirty="0" smtClean="0"/>
            </a:p>
            <a:p>
              <a:pPr algn="ctr"/>
              <a:r>
                <a:rPr lang="es-ES" b="1" dirty="0" smtClean="0"/>
                <a:t>Titulo </a:t>
              </a:r>
              <a:r>
                <a:rPr lang="es-ES" b="1" dirty="0"/>
                <a:t>del trabajo final </a:t>
              </a:r>
              <a:endParaRPr lang="es-ES" b="1" dirty="0" smtClean="0"/>
            </a:p>
            <a:p>
              <a:pPr algn="ctr"/>
              <a:endParaRPr lang="es-ES" b="1" dirty="0" smtClean="0"/>
            </a:p>
            <a:p>
              <a:pPr lvl="2"/>
              <a:r>
                <a:rPr lang="es-ES" b="1" dirty="0" smtClean="0"/>
                <a:t>Autor</a:t>
              </a:r>
              <a:r>
                <a:rPr lang="es-ES" b="1" dirty="0"/>
                <a:t>: </a:t>
              </a:r>
              <a:endParaRPr lang="es-ES" b="1" dirty="0" smtClean="0"/>
            </a:p>
            <a:p>
              <a:pPr lvl="2"/>
              <a:endParaRPr lang="es-ES" b="1" dirty="0" smtClean="0"/>
            </a:p>
            <a:p>
              <a:pPr lvl="2"/>
              <a:r>
                <a:rPr lang="es-ES" b="1" dirty="0" smtClean="0"/>
                <a:t>Tutor:</a:t>
              </a:r>
            </a:p>
            <a:p>
              <a:pPr lvl="2"/>
              <a:endParaRPr lang="es-ES" b="1" dirty="0" smtClean="0"/>
            </a:p>
            <a:p>
              <a:pPr lvl="2"/>
              <a:r>
                <a:rPr lang="es-ES" b="1" dirty="0" smtClean="0"/>
                <a:t> </a:t>
              </a:r>
              <a:r>
                <a:rPr lang="es-ES" b="1" dirty="0"/>
                <a:t>Cotutor: (opcional) </a:t>
              </a:r>
              <a:endParaRPr lang="es-ES" b="1" dirty="0" smtClean="0"/>
            </a:p>
            <a:p>
              <a:pPr algn="ctr"/>
              <a:endParaRPr lang="es-ES" b="1" dirty="0" smtClean="0"/>
            </a:p>
            <a:p>
              <a:pPr algn="ctr"/>
              <a:endParaRPr lang="es-ES" b="1" dirty="0"/>
            </a:p>
            <a:p>
              <a:pPr algn="ctr"/>
              <a:r>
                <a:rPr lang="es-ES" b="1" dirty="0" smtClean="0"/>
                <a:t>La Habana</a:t>
              </a:r>
            </a:p>
            <a:p>
              <a:pPr algn="ctr"/>
              <a:endParaRPr lang="es-ES" b="1" dirty="0" smtClean="0"/>
            </a:p>
            <a:p>
              <a:pPr algn="ctr"/>
              <a:r>
                <a:rPr lang="es-ES" b="1" dirty="0" smtClean="0"/>
                <a:t>2019</a:t>
              </a:r>
              <a:endParaRPr lang="es-ES_tradnl" dirty="0"/>
            </a:p>
          </p:txBody>
        </p:sp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7095" y="981583"/>
              <a:ext cx="598800" cy="7957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68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Resumen y </a:t>
            </a:r>
            <a:r>
              <a:rPr lang="es-ES" dirty="0" err="1" smtClean="0"/>
              <a:t>Abstract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0515600" cy="4351338"/>
          </a:xfrm>
        </p:spPr>
        <p:txBody>
          <a:bodyPr>
            <a:normAutofit fontScale="92500" lnSpcReduction="10000"/>
          </a:bodyPr>
          <a:lstStyle/>
          <a:p>
            <a:endParaRPr lang="es-ES_tradnl" dirty="0"/>
          </a:p>
          <a:p>
            <a:r>
              <a:rPr lang="es-ES" dirty="0"/>
              <a:t>Debe ser muy breve debe tener como promedio 250 palabras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 </a:t>
            </a:r>
            <a:r>
              <a:rPr lang="es-ES" dirty="0"/>
              <a:t>No se trata de una presentación o relación de sus capítulos, sino de una exposición de los aspectos científicos esenciales contenidos en la tesis. </a:t>
            </a:r>
            <a:endParaRPr lang="es-ES" dirty="0" smtClean="0"/>
          </a:p>
          <a:p>
            <a:r>
              <a:rPr lang="es-ES" dirty="0" smtClean="0"/>
              <a:t>Debe </a:t>
            </a:r>
            <a:r>
              <a:rPr lang="es-ES" dirty="0"/>
              <a:t>recordarse que el objetivo es informar al lector, en breves líneas, sobre el objeto y los objetivos del trabajo, sus resultados más relevantes y las contribuciones que hace a la ciencia o a la tecnología en el marco de su especialidad. </a:t>
            </a:r>
            <a:endParaRPr lang="es-ES" dirty="0" smtClean="0"/>
          </a:p>
          <a:p>
            <a:pPr marL="0" indent="0">
              <a:buNone/>
            </a:pPr>
            <a:endParaRPr lang="es-ES" b="1" dirty="0" smtClean="0"/>
          </a:p>
          <a:p>
            <a:pPr marL="0" indent="0">
              <a:buNone/>
            </a:pPr>
            <a:r>
              <a:rPr lang="es-ES" b="1" dirty="0" err="1" smtClean="0"/>
              <a:t>Abstract</a:t>
            </a:r>
            <a:endParaRPr lang="es-ES" b="1" dirty="0"/>
          </a:p>
          <a:p>
            <a:r>
              <a:rPr lang="es-ES" dirty="0" smtClean="0"/>
              <a:t>Este </a:t>
            </a:r>
            <a:r>
              <a:rPr lang="es-ES" dirty="0"/>
              <a:t>mismo resumen debe colocarse en inglés.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9302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Introducción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0515600" cy="4351338"/>
          </a:xfrm>
        </p:spPr>
        <p:txBody>
          <a:bodyPr>
            <a:noAutofit/>
          </a:bodyPr>
          <a:lstStyle/>
          <a:p>
            <a:r>
              <a:rPr lang="es-ES" dirty="0" smtClean="0"/>
              <a:t>No </a:t>
            </a:r>
            <a:r>
              <a:rPr lang="es-ES" dirty="0"/>
              <a:t>debe excederse de 10 cuartillas </a:t>
            </a:r>
          </a:p>
          <a:p>
            <a:r>
              <a:rPr lang="es-ES" dirty="0" smtClean="0"/>
              <a:t>Contexto histórico/social donde se desarrolla la investigación. </a:t>
            </a:r>
          </a:p>
          <a:p>
            <a:r>
              <a:rPr lang="es-ES_tradnl" dirty="0" smtClean="0"/>
              <a:t>Antecedentes del problema científico (justificación o motivación)</a:t>
            </a:r>
          </a:p>
          <a:p>
            <a:r>
              <a:rPr lang="es-ES" dirty="0" smtClean="0"/>
              <a:t>Breve presentación de la problemática </a:t>
            </a:r>
          </a:p>
          <a:p>
            <a:r>
              <a:rPr lang="es-ES_tradnl" dirty="0" smtClean="0"/>
              <a:t>Actualidad, Novedad científica e importancia teórica y práctica </a:t>
            </a:r>
          </a:p>
          <a:p>
            <a:r>
              <a:rPr lang="es-ES_tradnl" dirty="0" smtClean="0"/>
              <a:t>Diseño teórico: Problema científico, Objeto de estudio, Objetivos (general y específicos) y campo de acción</a:t>
            </a:r>
          </a:p>
          <a:p>
            <a:r>
              <a:rPr lang="es-ES_tradnl" dirty="0" smtClean="0"/>
              <a:t>Hipótesis o Pregunta científica </a:t>
            </a:r>
          </a:p>
          <a:p>
            <a:r>
              <a:rPr lang="es-ES_tradnl" dirty="0" smtClean="0"/>
              <a:t>Estructuración del trabajo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222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Desarrollo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0515600" cy="4351338"/>
          </a:xfrm>
        </p:spPr>
        <p:txBody>
          <a:bodyPr>
            <a:noAutofit/>
          </a:bodyPr>
          <a:lstStyle/>
          <a:p>
            <a:endParaRPr lang="es-ES_tradnl" dirty="0"/>
          </a:p>
          <a:p>
            <a:endParaRPr lang="es-ES_tradnl" dirty="0"/>
          </a:p>
          <a:p>
            <a:r>
              <a:rPr lang="es-ES_tradnl" dirty="0"/>
              <a:t>Fundamentación teórica (Marco </a:t>
            </a:r>
            <a:r>
              <a:rPr lang="es-ES_tradnl" dirty="0" smtClean="0"/>
              <a:t>teórico, Estado del arte) </a:t>
            </a:r>
            <a:endParaRPr lang="es-ES_tradnl" dirty="0"/>
          </a:p>
          <a:p>
            <a:r>
              <a:rPr lang="es-ES_tradnl" dirty="0" smtClean="0"/>
              <a:t>Modelación, diseño e implementación </a:t>
            </a:r>
            <a:endParaRPr lang="es-ES_tradnl" dirty="0"/>
          </a:p>
          <a:p>
            <a:r>
              <a:rPr lang="es-ES" dirty="0" smtClean="0"/>
              <a:t>Resultados obtenidos y su análisis, valoración e interpretación</a:t>
            </a:r>
          </a:p>
          <a:p>
            <a:endParaRPr lang="es-ES_tradnl" dirty="0"/>
          </a:p>
        </p:txBody>
      </p:sp>
      <p:sp>
        <p:nvSpPr>
          <p:cNvPr id="5" name="Elipse 4"/>
          <p:cNvSpPr/>
          <p:nvPr/>
        </p:nvSpPr>
        <p:spPr>
          <a:xfrm>
            <a:off x="7299702" y="4215539"/>
            <a:ext cx="4510005" cy="19527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Por capítulos </a:t>
            </a:r>
          </a:p>
          <a:p>
            <a:pPr algn="ctr"/>
            <a:r>
              <a:rPr lang="es-ES_tradnl" sz="2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y </a:t>
            </a:r>
          </a:p>
          <a:p>
            <a:pPr algn="ctr"/>
            <a:r>
              <a:rPr lang="es-ES_tradnl" sz="2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00"/>
                </a:solidFill>
              </a:rPr>
              <a:t>epígrafes(opcional) </a:t>
            </a:r>
            <a:endParaRPr lang="es-ES" sz="24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" dirty="0" smtClean="0"/>
              <a:t>Fundamentación teórica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ES_tradnl" dirty="0"/>
          </a:p>
          <a:p>
            <a:r>
              <a:rPr lang="es-ES" dirty="0"/>
              <a:t>Síntesis de los resultados alcanzados en la revisión de la bibliografía relacionada con el tema. </a:t>
            </a:r>
          </a:p>
          <a:p>
            <a:r>
              <a:rPr lang="es-ES" dirty="0" smtClean="0"/>
              <a:t>Presentación </a:t>
            </a:r>
            <a:r>
              <a:rPr lang="es-ES" dirty="0"/>
              <a:t>organizada de los conocimientos científicos acumulados sobre el tema. </a:t>
            </a:r>
          </a:p>
          <a:p>
            <a:r>
              <a:rPr lang="es-ES" dirty="0" smtClean="0"/>
              <a:t>Presentación </a:t>
            </a:r>
            <a:r>
              <a:rPr lang="es-ES" dirty="0"/>
              <a:t>y análisis de investigaciones anteriores. </a:t>
            </a:r>
          </a:p>
          <a:p>
            <a:r>
              <a:rPr lang="es-ES_tradnl" dirty="0" smtClean="0"/>
              <a:t>Presupuestos </a:t>
            </a:r>
            <a:r>
              <a:rPr lang="es-ES_tradnl" dirty="0"/>
              <a:t>o antecedentes de que se parte. </a:t>
            </a:r>
          </a:p>
          <a:p>
            <a:r>
              <a:rPr lang="es-ES" dirty="0" smtClean="0"/>
              <a:t>Posición </a:t>
            </a:r>
            <a:r>
              <a:rPr lang="es-ES" dirty="0"/>
              <a:t>que asume el autor sobre el tema.</a:t>
            </a:r>
          </a:p>
        </p:txBody>
      </p:sp>
    </p:spTree>
    <p:extLst>
      <p:ext uri="{BB962C8B-B14F-4D97-AF65-F5344CB8AC3E}">
        <p14:creationId xmlns:p14="http://schemas.microsoft.com/office/powerpoint/2010/main" val="274338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Modelación, diseño e implementación 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ES_tradnl" dirty="0"/>
          </a:p>
          <a:p>
            <a:r>
              <a:rPr lang="es-ES" dirty="0" smtClean="0"/>
              <a:t>Modelación del problema</a:t>
            </a:r>
            <a:endParaRPr lang="es-ES" dirty="0"/>
          </a:p>
          <a:p>
            <a:r>
              <a:rPr lang="es-ES" dirty="0" smtClean="0"/>
              <a:t>Diseño de la solución presentada</a:t>
            </a:r>
            <a:endParaRPr lang="es-ES" dirty="0"/>
          </a:p>
          <a:p>
            <a:r>
              <a:rPr lang="es-ES" dirty="0" smtClean="0"/>
              <a:t>Implementación de la solución (no es plantear el algoritmo, ni fragmentos de códigos (</a:t>
            </a:r>
            <a:r>
              <a:rPr lang="es-ES" sz="2000" dirty="0" smtClean="0"/>
              <a:t>si es </a:t>
            </a:r>
            <a:r>
              <a:rPr lang="es-ES" sz="2000" b="1" u="sng" dirty="0" smtClean="0"/>
              <a:t>muy novedoso </a:t>
            </a:r>
            <a:r>
              <a:rPr lang="es-ES" sz="2000" dirty="0" smtClean="0"/>
              <a:t>puede incluirse con un seudocódigo</a:t>
            </a:r>
            <a:r>
              <a:rPr lang="es-ES" dirty="0" smtClean="0"/>
              <a:t>))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2494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Conclusiones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r>
              <a:rPr lang="es-ES" dirty="0" smtClean="0"/>
              <a:t>Deben </a:t>
            </a:r>
            <a:r>
              <a:rPr lang="es-ES" dirty="0"/>
              <a:t>corresponderse con los objetivos planteados. </a:t>
            </a:r>
          </a:p>
          <a:p>
            <a:r>
              <a:rPr lang="es-ES" dirty="0" smtClean="0"/>
              <a:t>Elaborarse </a:t>
            </a:r>
            <a:r>
              <a:rPr lang="es-ES" dirty="0"/>
              <a:t>de forma precisa, breve y conveniente. </a:t>
            </a:r>
          </a:p>
          <a:p>
            <a:r>
              <a:rPr lang="es-ES" dirty="0" smtClean="0"/>
              <a:t>Deben </a:t>
            </a:r>
            <a:r>
              <a:rPr lang="es-ES" dirty="0"/>
              <a:t>mostrar que son una consecuencia lógica del trabajo realizado. </a:t>
            </a:r>
          </a:p>
          <a:p>
            <a:r>
              <a:rPr lang="es-ES" dirty="0" smtClean="0"/>
              <a:t>Deben </a:t>
            </a:r>
            <a:r>
              <a:rPr lang="es-ES" dirty="0"/>
              <a:t>representar la esencia de los resultados obtenidos por el autor, demostrada en el cuerpo de la tesis. </a:t>
            </a:r>
          </a:p>
          <a:p>
            <a:r>
              <a:rPr lang="es-ES" dirty="0" smtClean="0"/>
              <a:t>Deben </a:t>
            </a:r>
            <a:r>
              <a:rPr lang="es-ES" dirty="0"/>
              <a:t>resumir las aportaciones fundamentales del trabajo. </a:t>
            </a:r>
          </a:p>
          <a:p>
            <a:r>
              <a:rPr lang="es-ES" dirty="0" smtClean="0"/>
              <a:t>Pueden </a:t>
            </a:r>
            <a:r>
              <a:rPr lang="es-ES" dirty="0"/>
              <a:t>señalarse otros aspectos como: dificultades encontradas al realizar el trabajo, limitaciones del mismo, etc. </a:t>
            </a:r>
          </a:p>
        </p:txBody>
      </p:sp>
    </p:spTree>
    <p:extLst>
      <p:ext uri="{BB962C8B-B14F-4D97-AF65-F5344CB8AC3E}">
        <p14:creationId xmlns:p14="http://schemas.microsoft.com/office/powerpoint/2010/main" val="125662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Recomendaciones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dirty="0" smtClean="0"/>
              <a:t>Deben </a:t>
            </a:r>
            <a:r>
              <a:rPr lang="es-ES" dirty="0"/>
              <a:t>ser elaboradas atendiendo a las siguientes cuestiones: </a:t>
            </a:r>
          </a:p>
          <a:p>
            <a:r>
              <a:rPr lang="es-ES" dirty="0"/>
              <a:t>En qué aspectos se propone trabajar más para completar o ampliar el trabajo realizado. </a:t>
            </a:r>
          </a:p>
          <a:p>
            <a:r>
              <a:rPr lang="es-ES" dirty="0"/>
              <a:t>La posibilidad, a partir del trabajo realizado, de resolver problemas similares en otras esferas. </a:t>
            </a:r>
          </a:p>
          <a:p>
            <a:r>
              <a:rPr lang="es-ES" dirty="0"/>
              <a:t>Consideraciones sobre las condiciones necesarias para introducir los </a:t>
            </a:r>
            <a:r>
              <a:rPr lang="es-ES" dirty="0" smtClean="0"/>
              <a:t>resultados.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79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Referencias bibliográficas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dirty="0" smtClean="0"/>
              <a:t>Se </a:t>
            </a:r>
            <a:r>
              <a:rPr lang="es-ES" dirty="0"/>
              <a:t>relaciona al final de la tesis. Debe estar directamente vinculada con el tema de la </a:t>
            </a:r>
            <a:r>
              <a:rPr lang="es-ES" dirty="0" smtClean="0"/>
              <a:t>misma y citada en el documento elaborado. Son enumerados a partir de su referencia en el documento,</a:t>
            </a:r>
          </a:p>
          <a:p>
            <a:r>
              <a:rPr lang="es-ES" dirty="0" smtClean="0"/>
              <a:t>Se </a:t>
            </a:r>
            <a:r>
              <a:rPr lang="es-ES" dirty="0"/>
              <a:t>sugiere usar la norma APA (</a:t>
            </a:r>
            <a:r>
              <a:rPr lang="es-ES" b="1" dirty="0"/>
              <a:t>Normas de la American </a:t>
            </a:r>
            <a:r>
              <a:rPr lang="es-ES" b="1" dirty="0" err="1"/>
              <a:t>Psychological</a:t>
            </a:r>
            <a:r>
              <a:rPr lang="es-ES" b="1" dirty="0"/>
              <a:t> </a:t>
            </a:r>
            <a:r>
              <a:rPr lang="es-ES" b="1" dirty="0" err="1"/>
              <a:t>Asociation</a:t>
            </a:r>
            <a:r>
              <a:rPr lang="es-ES" dirty="0" smtClean="0"/>
              <a:t>)</a:t>
            </a:r>
          </a:p>
          <a:p>
            <a:r>
              <a:rPr lang="es-ES" dirty="0" smtClean="0"/>
              <a:t>Ejemplo </a:t>
            </a:r>
            <a:endParaRPr lang="es-ES" dirty="0"/>
          </a:p>
        </p:txBody>
      </p:sp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746" y="4049163"/>
            <a:ext cx="10323254" cy="23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0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Referencias bibliográficas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r>
              <a:rPr lang="es-ES" dirty="0" smtClean="0"/>
              <a:t>Se </a:t>
            </a:r>
            <a:r>
              <a:rPr lang="es-ES" dirty="0"/>
              <a:t>sugiere usar la norma </a:t>
            </a:r>
            <a:r>
              <a:rPr lang="es-ES" dirty="0" smtClean="0"/>
              <a:t>IEEE ()</a:t>
            </a:r>
          </a:p>
          <a:p>
            <a:r>
              <a:rPr lang="es-ES" dirty="0" smtClean="0"/>
              <a:t>Ejemplo </a:t>
            </a:r>
            <a:endParaRPr lang="es-ES" dirty="0"/>
          </a:p>
        </p:txBody>
      </p:sp>
      <p:pic>
        <p:nvPicPr>
          <p:cNvPr id="7" name="Imagen 6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124" y="3022289"/>
            <a:ext cx="9926569" cy="305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2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5787" y="-90508"/>
            <a:ext cx="10515600" cy="1325563"/>
          </a:xfrm>
        </p:spPr>
        <p:txBody>
          <a:bodyPr/>
          <a:lstStyle/>
          <a:p>
            <a:r>
              <a:rPr lang="es-ES" dirty="0" smtClean="0"/>
              <a:t>Tipos de fuentes de citas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3217" y="1190001"/>
            <a:ext cx="11079996" cy="5325469"/>
          </a:xfrm>
        </p:spPr>
        <p:txBody>
          <a:bodyPr>
            <a:noAutofit/>
          </a:bodyPr>
          <a:lstStyle/>
          <a:p>
            <a:r>
              <a:rPr lang="es-ES" dirty="0" smtClean="0"/>
              <a:t>Libro</a:t>
            </a:r>
          </a:p>
          <a:p>
            <a:endParaRPr lang="es-ES" dirty="0"/>
          </a:p>
          <a:p>
            <a:r>
              <a:rPr lang="es-ES" dirty="0" smtClean="0"/>
              <a:t>Artículos</a:t>
            </a:r>
          </a:p>
          <a:p>
            <a:endParaRPr lang="es-ES" dirty="0" smtClean="0"/>
          </a:p>
          <a:p>
            <a:endParaRPr lang="es-ES" dirty="0"/>
          </a:p>
          <a:p>
            <a:r>
              <a:rPr lang="es-ES" dirty="0" smtClean="0"/>
              <a:t>Manuales</a:t>
            </a:r>
          </a:p>
          <a:p>
            <a:endParaRPr lang="es-ES" dirty="0" smtClean="0"/>
          </a:p>
          <a:p>
            <a:endParaRPr lang="es-ES" dirty="0"/>
          </a:p>
          <a:p>
            <a:r>
              <a:rPr lang="es-ES" dirty="0" smtClean="0"/>
              <a:t>Sitio Web</a:t>
            </a:r>
          </a:p>
        </p:txBody>
      </p:sp>
      <p:sp>
        <p:nvSpPr>
          <p:cNvPr id="8" name="Rectángulo 7"/>
          <p:cNvSpPr/>
          <p:nvPr/>
        </p:nvSpPr>
        <p:spPr>
          <a:xfrm>
            <a:off x="1077778" y="1565418"/>
            <a:ext cx="10900477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">
              <a:lnSpc>
                <a:spcPct val="107000"/>
              </a:lnSpc>
              <a:spcAft>
                <a:spcPts val="800"/>
              </a:spcAft>
              <a:tabLst>
                <a:tab pos="233045" algn="l"/>
              </a:tabLst>
            </a:pPr>
            <a:r>
              <a:rPr lang="es-E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Gómez G. R .“</a:t>
            </a:r>
            <a:r>
              <a:rPr lang="es-ES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Metodología de la investigación cualitativa</a:t>
            </a:r>
            <a:r>
              <a:rPr lang="es-E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Segunda edición,  Barcelona: </a:t>
            </a:r>
            <a:r>
              <a:rPr lang="es-ES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Paidos</a:t>
            </a:r>
            <a:r>
              <a:rPr lang="es-E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/MEC, (1999). </a:t>
            </a:r>
            <a:endParaRPr lang="es-ES_trad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233728" y="2639182"/>
            <a:ext cx="108869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Arial" panose="020B0604020202020204" pitchFamily="34" charset="0"/>
              </a:rPr>
              <a:t>[2]. </a:t>
            </a:r>
            <a:r>
              <a:rPr lang="es-ES" dirty="0" err="1"/>
              <a:t>Boneu</a:t>
            </a:r>
            <a:r>
              <a:rPr lang="es-ES" dirty="0"/>
              <a:t>, </a:t>
            </a:r>
            <a:r>
              <a:rPr lang="es-ES" dirty="0" err="1"/>
              <a:t>M</a:t>
            </a:r>
            <a:r>
              <a:rPr lang="es-ES" dirty="0" err="1" smtClean="0"/>
              <a:t>.“</a:t>
            </a:r>
            <a:r>
              <a:rPr lang="es-ES" i="1" dirty="0" err="1" smtClean="0"/>
              <a:t>Plataformas</a:t>
            </a:r>
            <a:r>
              <a:rPr lang="es-ES" i="1" dirty="0" smtClean="0"/>
              <a:t> </a:t>
            </a:r>
            <a:r>
              <a:rPr lang="es-ES" i="1" dirty="0"/>
              <a:t>abiertas de e-</a:t>
            </a:r>
            <a:r>
              <a:rPr lang="es-ES" i="1" dirty="0" err="1"/>
              <a:t>learning</a:t>
            </a:r>
            <a:r>
              <a:rPr lang="es-ES" i="1" dirty="0"/>
              <a:t> para el soporte de contenidos educativos </a:t>
            </a:r>
            <a:r>
              <a:rPr lang="es-ES" i="1" dirty="0" smtClean="0"/>
              <a:t>abiert</a:t>
            </a:r>
            <a:r>
              <a:rPr lang="es-ES" dirty="0" smtClean="0"/>
              <a:t>os”. </a:t>
            </a:r>
            <a:r>
              <a:rPr lang="es-ES" i="1" dirty="0"/>
              <a:t>4(1)</a:t>
            </a:r>
            <a:r>
              <a:rPr lang="es-ES" dirty="0"/>
              <a:t>. Revista de Universidad y Sociedad del </a:t>
            </a:r>
            <a:r>
              <a:rPr lang="es-ES" dirty="0" smtClean="0"/>
              <a:t>Conocimiento), (2007).</a:t>
            </a:r>
            <a:endParaRPr lang="es-ES_tradnl" dirty="0"/>
          </a:p>
          <a:p>
            <a:r>
              <a:rPr lang="en-US" dirty="0" smtClean="0">
                <a:latin typeface="Arial" panose="020B0604020202020204" pitchFamily="34" charset="0"/>
              </a:rPr>
              <a:t>.</a:t>
            </a:r>
            <a:endParaRPr lang="es-ES" dirty="0">
              <a:latin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1305085" y="4313913"/>
            <a:ext cx="10886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 smtClean="0">
                <a:latin typeface="Arial" panose="020B0604020202020204" pitchFamily="34" charset="0"/>
              </a:rPr>
              <a:t>[3]. </a:t>
            </a:r>
            <a:r>
              <a:rPr lang="es-ES" dirty="0" smtClean="0"/>
              <a:t>Fernández C, Montes de Oca. “Computación” Editorial Félix Varela tercera edición, (2011). </a:t>
            </a:r>
            <a:endParaRPr lang="es-ES_tradnl" dirty="0"/>
          </a:p>
          <a:p>
            <a:r>
              <a:rPr lang="en-US" dirty="0" smtClean="0">
                <a:latin typeface="Arial" panose="020B0604020202020204" pitchFamily="34" charset="0"/>
              </a:rPr>
              <a:t>.</a:t>
            </a:r>
            <a:endParaRPr lang="es-ES" dirty="0">
              <a:latin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1305085" y="5830411"/>
            <a:ext cx="9536302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Arial" panose="020B0604020202020204" pitchFamily="34" charset="0"/>
              </a:rPr>
              <a:t>[4]. </a:t>
            </a:r>
            <a:r>
              <a:rPr lang="en-US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Fundación</a:t>
            </a:r>
            <a:r>
              <a:rPr lang="en-US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Raspberry Pi. </a:t>
            </a:r>
            <a:r>
              <a:rPr lang="es-EC" i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Blog de La Historia de la informática</a:t>
            </a:r>
            <a:r>
              <a:rPr lang="es-EC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Obtenido de https://histinf.blogs.upv.es/2013/12/18/raspberry-pi/, </a:t>
            </a:r>
            <a:r>
              <a:rPr lang="es-EC" sz="16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(visitado: 18 de diciembre de 2013). </a:t>
            </a:r>
            <a:endParaRPr lang="es-ES_tradn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7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5787" y="-90508"/>
            <a:ext cx="10515600" cy="1325563"/>
          </a:xfrm>
        </p:spPr>
        <p:txBody>
          <a:bodyPr/>
          <a:lstStyle/>
          <a:p>
            <a:r>
              <a:rPr lang="es-ES" dirty="0" smtClean="0"/>
              <a:t>Tipos de fuentes de citas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3217" y="1190001"/>
            <a:ext cx="11079996" cy="5325469"/>
          </a:xfrm>
        </p:spPr>
        <p:txBody>
          <a:bodyPr>
            <a:noAutofit/>
          </a:bodyPr>
          <a:lstStyle/>
          <a:p>
            <a:r>
              <a:rPr lang="es-ES" dirty="0" smtClean="0"/>
              <a:t>Tesis</a:t>
            </a:r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  <a:p>
            <a:endParaRPr lang="es-ES" dirty="0" smtClean="0"/>
          </a:p>
          <a:p>
            <a:r>
              <a:rPr lang="es-ES" dirty="0" err="1" smtClean="0"/>
              <a:t>Journal</a:t>
            </a:r>
            <a:endParaRPr lang="es-ES" dirty="0" smtClean="0"/>
          </a:p>
          <a:p>
            <a:pPr marL="0" indent="0">
              <a:buNone/>
            </a:pPr>
            <a:r>
              <a:rPr lang="en-US" sz="1800" dirty="0"/>
              <a:t>[7]. Barbosa J, Barbosa D, Wagner A</a:t>
            </a:r>
            <a:r>
              <a:rPr lang="en-US" sz="1800" dirty="0" smtClean="0"/>
              <a:t>. “</a:t>
            </a:r>
            <a:r>
              <a:rPr lang="en-US" sz="1800" i="1" dirty="0" smtClean="0"/>
              <a:t>Learning </a:t>
            </a:r>
            <a:r>
              <a:rPr lang="en-US" sz="1800" i="1" dirty="0"/>
              <a:t>in Ubiquitous Computing </a:t>
            </a:r>
            <a:r>
              <a:rPr lang="en-US" sz="1800" i="1" dirty="0" smtClean="0"/>
              <a:t>Environments</a:t>
            </a:r>
            <a:r>
              <a:rPr lang="en-US" sz="1800" dirty="0" smtClean="0"/>
              <a:t>”.  </a:t>
            </a:r>
            <a:r>
              <a:rPr lang="en-US" sz="1800" dirty="0"/>
              <a:t>International Journal of Information and Communication Technology </a:t>
            </a:r>
            <a:r>
              <a:rPr lang="en-US" sz="1800" dirty="0" smtClean="0"/>
              <a:t>Education, (2012) .</a:t>
            </a:r>
            <a:endParaRPr lang="es-ES" sz="1800" dirty="0"/>
          </a:p>
          <a:p>
            <a:endParaRPr lang="es-ES" dirty="0"/>
          </a:p>
          <a:p>
            <a:endParaRPr lang="es-ES" dirty="0"/>
          </a:p>
          <a:p>
            <a:endParaRPr lang="es-ES" dirty="0" smtClean="0"/>
          </a:p>
          <a:p>
            <a:endParaRPr lang="es-ES" dirty="0"/>
          </a:p>
        </p:txBody>
      </p:sp>
      <p:sp>
        <p:nvSpPr>
          <p:cNvPr id="8" name="Rectángulo 7"/>
          <p:cNvSpPr/>
          <p:nvPr/>
        </p:nvSpPr>
        <p:spPr>
          <a:xfrm>
            <a:off x="1077778" y="1565418"/>
            <a:ext cx="10900477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">
              <a:lnSpc>
                <a:spcPct val="107000"/>
              </a:lnSpc>
              <a:spcAft>
                <a:spcPts val="800"/>
              </a:spcAft>
              <a:tabLst>
                <a:tab pos="233045" algn="l"/>
              </a:tabLst>
            </a:pPr>
            <a:r>
              <a:rPr lang="es-E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[5] </a:t>
            </a:r>
            <a:r>
              <a:rPr lang="es-EC" dirty="0"/>
              <a:t>Simón Zorita, D. </a:t>
            </a:r>
            <a:r>
              <a:rPr lang="es-EC" dirty="0" smtClean="0"/>
              <a:t>“</a:t>
            </a:r>
            <a:r>
              <a:rPr lang="es-EC" i="1" dirty="0" smtClean="0"/>
              <a:t>Reconocimiento </a:t>
            </a:r>
            <a:r>
              <a:rPr lang="es-EC" i="1" dirty="0"/>
              <a:t>Automático Mediante Patrones Biométricos de </a:t>
            </a:r>
            <a:r>
              <a:rPr lang="es-EC" i="1" dirty="0" smtClean="0"/>
              <a:t>Huella”.</a:t>
            </a:r>
            <a:r>
              <a:rPr lang="es-EC" dirty="0" smtClean="0"/>
              <a:t> </a:t>
            </a:r>
            <a:r>
              <a:rPr lang="es-EC" dirty="0"/>
              <a:t>Tesis Doctoral, España . Obtenido de http://</a:t>
            </a:r>
            <a:r>
              <a:rPr lang="es-EC" dirty="0" smtClean="0"/>
              <a:t>oa.upm.es/79/1/09200327.pdf?iframe=true&amp;width=80%25&amp;height=80%25,(2003). </a:t>
            </a:r>
          </a:p>
          <a:p>
            <a:pPr marL="28575">
              <a:lnSpc>
                <a:spcPct val="107000"/>
              </a:lnSpc>
              <a:spcAft>
                <a:spcPts val="800"/>
              </a:spcAft>
              <a:tabLst>
                <a:tab pos="233045" algn="l"/>
              </a:tabLst>
            </a:pPr>
            <a:endParaRPr lang="es-ES_tradnl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091340" y="2437870"/>
            <a:ext cx="1088691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[6]. </a:t>
            </a:r>
            <a:r>
              <a:rPr lang="es-ES" dirty="0" err="1"/>
              <a:t>Llopiz</a:t>
            </a:r>
            <a:r>
              <a:rPr lang="es-ES" dirty="0"/>
              <a:t>, W. L. </a:t>
            </a:r>
            <a:r>
              <a:rPr lang="es-ES" dirty="0" smtClean="0"/>
              <a:t>“</a:t>
            </a:r>
            <a:r>
              <a:rPr lang="es-ES" i="1" dirty="0" smtClean="0"/>
              <a:t>Desarrollo </a:t>
            </a:r>
            <a:r>
              <a:rPr lang="es-ES" i="1" dirty="0"/>
              <a:t>de un Mundo Virtual para la enseñanza de la Matemática: Hera ver </a:t>
            </a:r>
            <a:r>
              <a:rPr lang="es-ES" i="1" dirty="0" smtClean="0"/>
              <a:t>1.</a:t>
            </a:r>
            <a:r>
              <a:rPr lang="es-ES" dirty="0" smtClean="0"/>
              <a:t>0”. Tesis de grado en Ciencia de la Computación, Universidad de La Habana, (2017). </a:t>
            </a:r>
            <a:endParaRPr lang="es-ES_tradnl" dirty="0"/>
          </a:p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1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Bibliografía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dirty="0" smtClean="0"/>
              <a:t>Se relaciona al final de la tesis, después de las referencias y los requisitos son:</a:t>
            </a:r>
            <a:endParaRPr lang="es-ES_tradnl" dirty="0"/>
          </a:p>
          <a:p>
            <a:r>
              <a:rPr lang="es-ES" dirty="0" smtClean="0"/>
              <a:t>Ordenada </a:t>
            </a:r>
            <a:r>
              <a:rPr lang="es-ES" dirty="0"/>
              <a:t>alfabéticamente por el primer apellido del autor. </a:t>
            </a:r>
          </a:p>
          <a:p>
            <a:r>
              <a:rPr lang="es-ES" dirty="0"/>
              <a:t>Ofrecer datos suficientes del material consultado. </a:t>
            </a:r>
          </a:p>
          <a:p>
            <a:r>
              <a:rPr lang="es-ES" dirty="0"/>
              <a:t>Se sugiere usar la norma </a:t>
            </a:r>
            <a:r>
              <a:rPr lang="es-ES" dirty="0" smtClean="0"/>
              <a:t>APA, IEEE, fundamentalmente (la norma debe coincidir con la utilizada en las referencias)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017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19745" y="206968"/>
            <a:ext cx="10515600" cy="1325563"/>
          </a:xfrm>
        </p:spPr>
        <p:txBody>
          <a:bodyPr/>
          <a:lstStyle/>
          <a:p>
            <a:r>
              <a:rPr lang="es-ES_tradnl" dirty="0" smtClean="0"/>
              <a:t>Anexos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52221" y="1532531"/>
            <a:ext cx="1107999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dirty="0" smtClean="0"/>
              <a:t>Se </a:t>
            </a:r>
            <a:r>
              <a:rPr lang="es-ES" dirty="0"/>
              <a:t>presentan al final del informe. </a:t>
            </a:r>
          </a:p>
          <a:p>
            <a:r>
              <a:rPr lang="es-ES" dirty="0" smtClean="0"/>
              <a:t>Cada </a:t>
            </a:r>
            <a:r>
              <a:rPr lang="es-ES" dirty="0"/>
              <a:t>anexo debe estar titulado y numerado consecutivamente en correspondencia con su referencia en el informe. </a:t>
            </a:r>
          </a:p>
          <a:p>
            <a:r>
              <a:rPr lang="es-ES" dirty="0" smtClean="0"/>
              <a:t>En </a:t>
            </a:r>
            <a:r>
              <a:rPr lang="es-ES" dirty="0"/>
              <a:t>los anexos se incluye el material auxiliar que no aparece en el texto del informe, se incluyen por lo general: tablas, gráficos, ilustraciones, algoritmos, fragmentos de código, etc. </a:t>
            </a:r>
          </a:p>
        </p:txBody>
      </p:sp>
    </p:spTree>
    <p:extLst>
      <p:ext uri="{BB962C8B-B14F-4D97-AF65-F5344CB8AC3E}">
        <p14:creationId xmlns:p14="http://schemas.microsoft.com/office/powerpoint/2010/main" val="260576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38194" y="-25507"/>
            <a:ext cx="10515600" cy="1325563"/>
          </a:xfrm>
        </p:spPr>
        <p:txBody>
          <a:bodyPr/>
          <a:lstStyle/>
          <a:p>
            <a:r>
              <a:rPr lang="es-ES_tradnl" dirty="0" smtClean="0"/>
              <a:t>Momentos de la defensa de tesis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300056"/>
            <a:ext cx="12321153" cy="5193734"/>
          </a:xfrm>
        </p:spPr>
        <p:txBody>
          <a:bodyPr>
            <a:noAutofit/>
          </a:bodyPr>
          <a:lstStyle/>
          <a:p>
            <a:r>
              <a:rPr lang="es-ES" sz="2400" dirty="0" smtClean="0"/>
              <a:t>Presentación </a:t>
            </a:r>
            <a:r>
              <a:rPr lang="es-ES" sz="2400" dirty="0"/>
              <a:t>del Tribunal, el </a:t>
            </a:r>
            <a:r>
              <a:rPr lang="es-ES" sz="2400" dirty="0" smtClean="0"/>
              <a:t>Autor, </a:t>
            </a:r>
            <a:r>
              <a:rPr lang="es-ES" sz="2400" dirty="0"/>
              <a:t>el titulo del trabajo</a:t>
            </a:r>
            <a:r>
              <a:rPr lang="es-ES" sz="2400" dirty="0" smtClean="0"/>
              <a:t>, </a:t>
            </a:r>
            <a:r>
              <a:rPr lang="es-ES" sz="2400" dirty="0"/>
              <a:t>el </a:t>
            </a:r>
            <a:r>
              <a:rPr lang="es-ES" sz="2400" dirty="0" smtClean="0"/>
              <a:t>Tutor(es). </a:t>
            </a:r>
            <a:endParaRPr lang="es-ES" sz="2400" dirty="0"/>
          </a:p>
          <a:p>
            <a:r>
              <a:rPr lang="es-ES" sz="2400" dirty="0" smtClean="0"/>
              <a:t>Exposición </a:t>
            </a:r>
            <a:r>
              <a:rPr lang="es-ES" sz="2400" dirty="0"/>
              <a:t>oral, por el autor, de los resultados del trabajo. (20 min) </a:t>
            </a:r>
          </a:p>
          <a:p>
            <a:r>
              <a:rPr lang="es-ES" sz="2400" dirty="0" smtClean="0"/>
              <a:t>Lectura </a:t>
            </a:r>
            <a:r>
              <a:rPr lang="es-ES" sz="2400" dirty="0"/>
              <a:t>de las consideraciones y preguntas del oponente. </a:t>
            </a:r>
          </a:p>
          <a:p>
            <a:r>
              <a:rPr lang="es-ES_tradnl" sz="2400" dirty="0" smtClean="0"/>
              <a:t>Respuestas </a:t>
            </a:r>
            <a:r>
              <a:rPr lang="es-ES_tradnl" sz="2400" dirty="0"/>
              <a:t>del estudiante. </a:t>
            </a:r>
          </a:p>
          <a:p>
            <a:r>
              <a:rPr lang="es-ES" sz="2400" dirty="0" smtClean="0"/>
              <a:t>Preguntas </a:t>
            </a:r>
            <a:r>
              <a:rPr lang="es-ES" sz="2400" dirty="0"/>
              <a:t>del público asistente al acto de defensa (</a:t>
            </a:r>
            <a:r>
              <a:rPr lang="es-ES" sz="2400" dirty="0" smtClean="0"/>
              <a:t>si es solicitada al </a:t>
            </a:r>
            <a:r>
              <a:rPr lang="es-ES" sz="2400" dirty="0"/>
              <a:t>tribunal). </a:t>
            </a:r>
          </a:p>
          <a:p>
            <a:r>
              <a:rPr lang="es-ES" sz="2400" dirty="0" smtClean="0"/>
              <a:t>Respuestas </a:t>
            </a:r>
            <a:r>
              <a:rPr lang="es-ES" sz="2400" dirty="0"/>
              <a:t>del estudiante a preguntas del público. </a:t>
            </a:r>
          </a:p>
          <a:p>
            <a:r>
              <a:rPr lang="es-ES" sz="2400" dirty="0" smtClean="0"/>
              <a:t>Preguntas</a:t>
            </a:r>
            <a:r>
              <a:rPr lang="es-ES" sz="2400" dirty="0"/>
              <a:t>, observaciones y sugerencias del tribunal. </a:t>
            </a:r>
          </a:p>
          <a:p>
            <a:r>
              <a:rPr lang="es-ES" sz="2400" dirty="0" smtClean="0"/>
              <a:t>Respuestas </a:t>
            </a:r>
            <a:r>
              <a:rPr lang="es-ES" sz="2400" dirty="0"/>
              <a:t>del estudiante a preguntas, observaciones y sugerencias formuladas por el tribunal. </a:t>
            </a:r>
          </a:p>
          <a:p>
            <a:r>
              <a:rPr lang="es-ES_tradnl" sz="2400" dirty="0" smtClean="0"/>
              <a:t>Lectura de la opinión del tutor</a:t>
            </a:r>
          </a:p>
          <a:p>
            <a:r>
              <a:rPr lang="es-ES_tradnl" sz="2400" dirty="0" smtClean="0"/>
              <a:t>Deliberación </a:t>
            </a:r>
            <a:r>
              <a:rPr lang="es-ES_tradnl" sz="2400" dirty="0"/>
              <a:t>del tribunal. </a:t>
            </a:r>
          </a:p>
          <a:p>
            <a:r>
              <a:rPr lang="es-ES" sz="2400" dirty="0" smtClean="0"/>
              <a:t>Lectura </a:t>
            </a:r>
            <a:r>
              <a:rPr lang="es-ES" sz="2400" dirty="0"/>
              <a:t>pública del acta de defensa. </a:t>
            </a:r>
          </a:p>
        </p:txBody>
      </p:sp>
    </p:spTree>
    <p:extLst>
      <p:ext uri="{BB962C8B-B14F-4D97-AF65-F5344CB8AC3E}">
        <p14:creationId xmlns:p14="http://schemas.microsoft.com/office/powerpoint/2010/main" val="427632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1955</Words>
  <Application>Microsoft Office PowerPoint</Application>
  <PresentationFormat>Widescreen</PresentationFormat>
  <Paragraphs>214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Tema de Office</vt:lpstr>
      <vt:lpstr>Redacción de un informe de investigación</vt:lpstr>
      <vt:lpstr>Publicación de los resultados</vt:lpstr>
      <vt:lpstr>Publicación de los resultados</vt:lpstr>
      <vt:lpstr>Publicación de los resultados</vt:lpstr>
      <vt:lpstr>Redacción</vt:lpstr>
      <vt:lpstr>Redacción</vt:lpstr>
      <vt:lpstr>Redacción</vt:lpstr>
      <vt:lpstr>Esquema de publicación</vt:lpstr>
      <vt:lpstr>Escritura de una tesis de grado  en  Ciencia de la Computación</vt:lpstr>
      <vt:lpstr>¿Qué se espera del trabajo de tesis?</vt:lpstr>
      <vt:lpstr>¿Qué se espera del trabajo de tesis?</vt:lpstr>
      <vt:lpstr>Aspectos formales de una tesis</vt:lpstr>
      <vt:lpstr>Reglas de elaboración de la tesis</vt:lpstr>
      <vt:lpstr>Estructura de la tesis</vt:lpstr>
      <vt:lpstr>Portada</vt:lpstr>
      <vt:lpstr>Resumen y Abstract</vt:lpstr>
      <vt:lpstr>Introducción</vt:lpstr>
      <vt:lpstr>Desarrollo</vt:lpstr>
      <vt:lpstr>Fundamentación teórica</vt:lpstr>
      <vt:lpstr>Modelación, diseño e implementación </vt:lpstr>
      <vt:lpstr>Conclusiones</vt:lpstr>
      <vt:lpstr>Recomendaciones</vt:lpstr>
      <vt:lpstr>Referencias bibliográficas</vt:lpstr>
      <vt:lpstr>Referencias bibliográficas</vt:lpstr>
      <vt:lpstr>Tipos de fuentes de citas</vt:lpstr>
      <vt:lpstr>Tipos de fuentes de citas</vt:lpstr>
      <vt:lpstr>Bibliografía</vt:lpstr>
      <vt:lpstr>Anexos</vt:lpstr>
      <vt:lpstr>Momentos de la defensa de tesis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Redacción de un informe de investigación</dc:title>
  <dc:creator>Carmen T Fernandez</dc:creator>
  <cp:lastModifiedBy>carmen</cp:lastModifiedBy>
  <cp:revision>18</cp:revision>
  <dcterms:created xsi:type="dcterms:W3CDTF">2019-11-22T18:27:20Z</dcterms:created>
  <dcterms:modified xsi:type="dcterms:W3CDTF">2021-02-17T19:19:52Z</dcterms:modified>
</cp:coreProperties>
</file>