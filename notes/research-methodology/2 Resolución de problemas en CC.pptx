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4" r:id="rId14"/>
    <p:sldId id="272" r:id="rId15"/>
    <p:sldId id="273" r:id="rId16"/>
    <p:sldId id="265" r:id="rId17"/>
    <p:sldId id="267" r:id="rId18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31" d="100"/>
          <a:sy n="31" d="100"/>
        </p:scale>
        <p:origin x="-102" y="-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272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23538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7314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0571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5201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6683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969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3752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596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4423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2242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8B99B-5A53-4317-9A21-5FF8BCF0EC1C}" type="datetimeFigureOut">
              <a:rPr lang="es-ES_tradnl" smtClean="0"/>
              <a:t>29/09/2021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444E4-3817-4823-BAC7-E076CA3EA8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5355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69454" y="2185361"/>
            <a:ext cx="9144000" cy="1655762"/>
          </a:xfrm>
        </p:spPr>
        <p:txBody>
          <a:bodyPr>
            <a:noAutofit/>
          </a:bodyPr>
          <a:lstStyle/>
          <a:p>
            <a:r>
              <a:rPr lang="es-ES" sz="5400" dirty="0" smtClean="0"/>
              <a:t>Enfoque de la resolución de problemas</a:t>
            </a:r>
          </a:p>
          <a:p>
            <a:r>
              <a:rPr lang="es-ES" sz="5400" dirty="0" smtClean="0"/>
              <a:t> en </a:t>
            </a:r>
          </a:p>
          <a:p>
            <a:r>
              <a:rPr lang="es-ES" sz="5400" dirty="0" smtClean="0"/>
              <a:t>Ciencia de la Computación</a:t>
            </a:r>
            <a:endParaRPr lang="es-ES_tradnl" sz="5400" dirty="0"/>
          </a:p>
        </p:txBody>
      </p:sp>
    </p:spTree>
    <p:extLst>
      <p:ext uri="{BB962C8B-B14F-4D97-AF65-F5344CB8AC3E}">
        <p14:creationId xmlns:p14="http://schemas.microsoft.com/office/powerpoint/2010/main" val="166859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1" dirty="0" smtClean="0"/>
              <a:t>Resolución </a:t>
            </a:r>
            <a:r>
              <a:rPr lang="es-ES_tradnl" b="1" dirty="0"/>
              <a:t>de problemas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29019"/>
          </a:xfrm>
        </p:spPr>
        <p:txBody>
          <a:bodyPr/>
          <a:lstStyle/>
          <a:p>
            <a:r>
              <a:rPr lang="es-ES" dirty="0"/>
              <a:t>Según </a:t>
            </a:r>
            <a:r>
              <a:rPr lang="es-ES" dirty="0" err="1"/>
              <a:t>Dijkstra</a:t>
            </a:r>
            <a:r>
              <a:rPr lang="es-ES" dirty="0"/>
              <a:t> (1991), la resolución de problemas es un proceso </a:t>
            </a:r>
            <a:r>
              <a:rPr lang="es-ES" dirty="0" smtClean="0"/>
              <a:t>cognoscitivo complejo </a:t>
            </a:r>
            <a:r>
              <a:rPr lang="es-ES" dirty="0"/>
              <a:t>que involucra conocimiento almacenado en la memoria a corto y a </a:t>
            </a:r>
            <a:r>
              <a:rPr lang="es-ES" dirty="0" smtClean="0"/>
              <a:t>largo </a:t>
            </a:r>
            <a:r>
              <a:rPr lang="es-ES_tradnl" dirty="0" smtClean="0"/>
              <a:t>plazo</a:t>
            </a:r>
            <a:r>
              <a:rPr lang="es-ES_tradnl" dirty="0"/>
              <a:t>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189135" y="3635734"/>
            <a:ext cx="950980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i="0" u="none" strike="noStrike" baseline="0" dirty="0" smtClean="0"/>
              <a:t>La resolución de problemas consiste en un conjunto de actividades mentales y de toma de decisiones</a:t>
            </a:r>
            <a:r>
              <a:rPr lang="es-ES" sz="2800" i="0" u="none" strike="noStrike" dirty="0" smtClean="0"/>
              <a:t> donde se adicionan</a:t>
            </a:r>
            <a:r>
              <a:rPr lang="es-ES" sz="2800" i="0" u="none" strike="noStrike" baseline="0" dirty="0" smtClean="0"/>
              <a:t> </a:t>
            </a:r>
            <a:r>
              <a:rPr lang="es-ES" sz="2800" dirty="0"/>
              <a:t>f</a:t>
            </a:r>
            <a:r>
              <a:rPr lang="es-ES" sz="2800" i="0" u="none" strike="noStrike" baseline="0" dirty="0" smtClean="0"/>
              <a:t>actores de naturaleza </a:t>
            </a:r>
            <a:r>
              <a:rPr lang="es-ES" sz="2800" b="1" i="0" u="sng" strike="noStrike" baseline="0" dirty="0" smtClean="0"/>
              <a:t>cognoscitiva, </a:t>
            </a:r>
            <a:r>
              <a:rPr lang="es-ES_tradnl" sz="2800" b="1" i="0" u="sng" strike="noStrike" baseline="0" dirty="0" smtClean="0"/>
              <a:t>afectiva y de motivación.</a:t>
            </a:r>
            <a:endParaRPr lang="es-ES_tradnl" sz="2800" b="1" u="sng" dirty="0"/>
          </a:p>
        </p:txBody>
      </p:sp>
    </p:spTree>
    <p:extLst>
      <p:ext uri="{BB962C8B-B14F-4D97-AF65-F5344CB8AC3E}">
        <p14:creationId xmlns:p14="http://schemas.microsoft.com/office/powerpoint/2010/main" val="407600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0704" cy="1325563"/>
          </a:xfrm>
        </p:spPr>
        <p:txBody>
          <a:bodyPr/>
          <a:lstStyle/>
          <a:p>
            <a:pPr algn="ctr"/>
            <a:r>
              <a:rPr lang="es-E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Etapas de la resolución de un problema en Ciencia de la Computación</a:t>
            </a:r>
            <a:endParaRPr lang="es-ES_tradnl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Percibir el problema</a:t>
            </a:r>
          </a:p>
          <a:p>
            <a:r>
              <a:rPr lang="es-ES" dirty="0" smtClean="0"/>
              <a:t>Analizar el problema</a:t>
            </a:r>
          </a:p>
          <a:p>
            <a:r>
              <a:rPr lang="es-ES" dirty="0" smtClean="0"/>
              <a:t>Formular el problema</a:t>
            </a:r>
          </a:p>
          <a:p>
            <a:r>
              <a:rPr lang="es-ES" dirty="0" smtClean="0"/>
              <a:t>Resolver el problema y analizar sus alternativas de solución </a:t>
            </a:r>
          </a:p>
          <a:p>
            <a:r>
              <a:rPr lang="es-ES" dirty="0" smtClean="0"/>
              <a:t>Seleccionar la mejor alternativa</a:t>
            </a:r>
          </a:p>
          <a:p>
            <a:r>
              <a:rPr lang="es-ES" dirty="0" smtClean="0"/>
              <a:t>Implementar la solución</a:t>
            </a:r>
          </a:p>
          <a:p>
            <a:r>
              <a:rPr lang="es-ES" dirty="0" smtClean="0"/>
              <a:t>Perfeccionar y/o mantenimiento de la solución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5964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21367" y="-383758"/>
            <a:ext cx="10515600" cy="1325563"/>
          </a:xfrm>
        </p:spPr>
        <p:txBody>
          <a:bodyPr/>
          <a:lstStyle/>
          <a:p>
            <a:r>
              <a:rPr lang="es-ES" dirty="0" smtClean="0"/>
              <a:t>Ejemplo 1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06415" y="455638"/>
            <a:ext cx="9030335" cy="4351338"/>
          </a:xfrm>
        </p:spPr>
        <p:txBody>
          <a:bodyPr>
            <a:normAutofit/>
          </a:bodyPr>
          <a:lstStyle/>
          <a:p>
            <a:r>
              <a:rPr lang="es-ES" sz="2400" dirty="0" smtClean="0"/>
              <a:t>Los Sistema de Información Geográfica permiten </a:t>
            </a:r>
            <a:r>
              <a:rPr lang="es-ES" sz="2400" dirty="0"/>
              <a:t>resolver problemas complejos de planificación y gestión </a:t>
            </a:r>
            <a:r>
              <a:rPr lang="es-ES" sz="2400" dirty="0" smtClean="0"/>
              <a:t>geográfica. </a:t>
            </a:r>
          </a:p>
          <a:p>
            <a:r>
              <a:rPr lang="es-ES" sz="2400" dirty="0"/>
              <a:t>Sistema de Información Geográfica llamado </a:t>
            </a:r>
            <a:r>
              <a:rPr lang="es-ES" sz="2400" i="1" dirty="0" err="1"/>
              <a:t>LatinoGIS</a:t>
            </a:r>
            <a:r>
              <a:rPr lang="es-ES" sz="2400" i="1" dirty="0"/>
              <a:t> </a:t>
            </a:r>
            <a:r>
              <a:rPr lang="es-ES" sz="2400" dirty="0"/>
              <a:t>[SGRIN, 2012</a:t>
            </a:r>
            <a:r>
              <a:rPr lang="es-ES" sz="2400" dirty="0" smtClean="0"/>
              <a:t>] visualiza </a:t>
            </a:r>
            <a:r>
              <a:rPr lang="es-ES" sz="2400" dirty="0"/>
              <a:t>cualquier región del planeta y ofrece distintas funcionalidades para manipular la información asociada </a:t>
            </a:r>
            <a:r>
              <a:rPr lang="es-ES" sz="2400" dirty="0" smtClean="0"/>
              <a:t>región visualizada.</a:t>
            </a:r>
          </a:p>
          <a:p>
            <a:r>
              <a:rPr lang="es-ES_tradnl" sz="2400" dirty="0"/>
              <a:t>ALMAGIS </a:t>
            </a:r>
            <a:r>
              <a:rPr lang="es-ES_tradnl" sz="2400" dirty="0" smtClean="0"/>
              <a:t> es un </a:t>
            </a:r>
            <a:r>
              <a:rPr lang="es-ES" sz="2400" dirty="0" smtClean="0"/>
              <a:t>sistema permite la publicación y visualización de la información espacial mediante mapas y las consultas de la información alfanumérica solo pueden realizarse a los elementos representados en el mapa.</a:t>
            </a:r>
            <a:endParaRPr lang="es-ES_tradnl" sz="2400" dirty="0"/>
          </a:p>
        </p:txBody>
      </p:sp>
      <p:sp>
        <p:nvSpPr>
          <p:cNvPr id="4" name="Rectángulo 3"/>
          <p:cNvSpPr/>
          <p:nvPr/>
        </p:nvSpPr>
        <p:spPr>
          <a:xfrm>
            <a:off x="947216" y="2215809"/>
            <a:ext cx="17181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smtClean="0"/>
              <a:t>Percibir </a:t>
            </a:r>
          </a:p>
          <a:p>
            <a:r>
              <a:rPr lang="es-ES" sz="2400" b="1" dirty="0" smtClean="0"/>
              <a:t>el problema</a:t>
            </a:r>
          </a:p>
        </p:txBody>
      </p:sp>
      <p:sp>
        <p:nvSpPr>
          <p:cNvPr id="5" name="Llaves 4"/>
          <p:cNvSpPr/>
          <p:nvPr/>
        </p:nvSpPr>
        <p:spPr>
          <a:xfrm>
            <a:off x="2665379" y="216753"/>
            <a:ext cx="9526621" cy="3998111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0" name="Grupo 9"/>
          <p:cNvGrpSpPr/>
          <p:nvPr/>
        </p:nvGrpSpPr>
        <p:grpSpPr>
          <a:xfrm>
            <a:off x="606177" y="4983593"/>
            <a:ext cx="11585822" cy="1822441"/>
            <a:chOff x="606177" y="4983593"/>
            <a:chExt cx="11585822" cy="1822441"/>
          </a:xfrm>
        </p:grpSpPr>
        <p:sp>
          <p:nvSpPr>
            <p:cNvPr id="7" name="Rectángulo 6"/>
            <p:cNvSpPr/>
            <p:nvPr/>
          </p:nvSpPr>
          <p:spPr>
            <a:xfrm>
              <a:off x="3006415" y="5286507"/>
              <a:ext cx="884454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800" dirty="0" smtClean="0"/>
                <a:t>La interacción del sistema </a:t>
              </a:r>
              <a:r>
                <a:rPr lang="es-ES_tradnl" sz="2800" dirty="0" smtClean="0"/>
                <a:t>ALMAGIS </a:t>
              </a:r>
              <a:r>
                <a:rPr lang="es-ES" sz="2800" dirty="0" smtClean="0"/>
                <a:t>se realiza a través de la representación de los mapas geográficos.  </a:t>
              </a:r>
              <a:endParaRPr lang="es-ES_tradnl" sz="2800" dirty="0"/>
            </a:p>
          </p:txBody>
        </p:sp>
        <p:sp>
          <p:nvSpPr>
            <p:cNvPr id="8" name="Llaves 7"/>
            <p:cNvSpPr/>
            <p:nvPr/>
          </p:nvSpPr>
          <p:spPr>
            <a:xfrm>
              <a:off x="2665378" y="4983593"/>
              <a:ext cx="9526621" cy="1822441"/>
            </a:xfrm>
            <a:prstGeom prst="bracePair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606177" y="5286507"/>
              <a:ext cx="171816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400" b="1" dirty="0" smtClean="0"/>
                <a:t>Analizar</a:t>
              </a:r>
            </a:p>
            <a:p>
              <a:r>
                <a:rPr lang="es-ES" sz="2400" b="1" dirty="0" smtClean="0"/>
                <a:t>el problema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019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1 </a:t>
            </a:r>
            <a:r>
              <a:rPr lang="es-ES" sz="3200" dirty="0" smtClean="0"/>
              <a:t>cont.)</a:t>
            </a:r>
            <a:endParaRPr lang="es-ES_tradnl" sz="32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29191" y="1048662"/>
            <a:ext cx="8047309" cy="5139379"/>
          </a:xfrm>
        </p:spPr>
        <p:txBody>
          <a:bodyPr>
            <a:noAutofit/>
          </a:bodyPr>
          <a:lstStyle/>
          <a:p>
            <a:endParaRPr lang="es-ES_tradnl" sz="2400" smtClean="0"/>
          </a:p>
          <a:p>
            <a:pPr marL="0" indent="0">
              <a:buNone/>
            </a:pPr>
            <a:r>
              <a:rPr lang="es-ES" sz="2400" b="1" smtClean="0"/>
              <a:t>Problema o situación problémica</a:t>
            </a:r>
          </a:p>
          <a:p>
            <a:pPr marL="0" indent="0">
              <a:buNone/>
            </a:pPr>
            <a:r>
              <a:rPr lang="es-ES" sz="2400" smtClean="0"/>
              <a:t>La inexistencia de capacidades en </a:t>
            </a:r>
            <a:r>
              <a:rPr lang="es-ES_tradnl" sz="2400" smtClean="0"/>
              <a:t>ALMAGIS</a:t>
            </a:r>
            <a:r>
              <a:rPr lang="es-ES" sz="2400" smtClean="0"/>
              <a:t> para la interacción mediante comandos.</a:t>
            </a:r>
          </a:p>
          <a:p>
            <a:pPr marL="0" indent="0">
              <a:buNone/>
            </a:pPr>
            <a:endParaRPr lang="es-ES" sz="2400" smtClean="0"/>
          </a:p>
          <a:p>
            <a:pPr marL="0" indent="0">
              <a:buNone/>
            </a:pPr>
            <a:endParaRPr lang="es-ES" sz="2400" smtClean="0"/>
          </a:p>
          <a:p>
            <a:pPr marL="0" indent="0">
              <a:buNone/>
            </a:pPr>
            <a:endParaRPr lang="es-ES" sz="2400" smtClean="0"/>
          </a:p>
          <a:p>
            <a:pPr marL="0" indent="0">
              <a:buNone/>
            </a:pPr>
            <a:endParaRPr lang="es-ES" sz="2400" smtClean="0"/>
          </a:p>
          <a:p>
            <a:pPr marL="0" indent="0">
              <a:buNone/>
            </a:pPr>
            <a:endParaRPr lang="es-ES" sz="2400" smtClean="0"/>
          </a:p>
          <a:p>
            <a:pPr marL="0" indent="0">
              <a:buNone/>
            </a:pPr>
            <a:endParaRPr lang="es-ES" sz="2400" b="1" smtClean="0"/>
          </a:p>
          <a:p>
            <a:pPr marL="0" indent="0">
              <a:buNone/>
            </a:pPr>
            <a:endParaRPr lang="es-ES" sz="2400" dirty="0" smtClean="0"/>
          </a:p>
        </p:txBody>
      </p:sp>
      <p:sp>
        <p:nvSpPr>
          <p:cNvPr id="5" name="Rectángulo 4"/>
          <p:cNvSpPr/>
          <p:nvPr/>
        </p:nvSpPr>
        <p:spPr>
          <a:xfrm>
            <a:off x="0" y="3212918"/>
            <a:ext cx="18832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smtClean="0"/>
              <a:t>Formulación </a:t>
            </a:r>
          </a:p>
          <a:p>
            <a:r>
              <a:rPr lang="es-ES" sz="2400" b="1" dirty="0" smtClean="0"/>
              <a:t>del problema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2753383" y="2647209"/>
            <a:ext cx="7598924" cy="2418412"/>
            <a:chOff x="2762655" y="3797548"/>
            <a:chExt cx="7598924" cy="2418412"/>
          </a:xfrm>
        </p:grpSpPr>
        <p:sp>
          <p:nvSpPr>
            <p:cNvPr id="7" name="Flecha abajo 6"/>
            <p:cNvSpPr/>
            <p:nvPr/>
          </p:nvSpPr>
          <p:spPr>
            <a:xfrm>
              <a:off x="5836597" y="3797548"/>
              <a:ext cx="1756816" cy="119016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¿</a:t>
              </a:r>
              <a:r>
                <a:rPr lang="es-ES" dirty="0" smtClean="0"/>
                <a:t>Cómo lo logro?</a:t>
              </a:r>
              <a:endParaRPr lang="es-ES_tradnl" dirty="0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2762655" y="5015631"/>
              <a:ext cx="759892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400" dirty="0"/>
                <a:t>Estudio de componentes de consola web para instrumentar la facilidad de interacción mediante comandos en el sistema ALMAGIS</a:t>
              </a:r>
            </a:p>
          </p:txBody>
        </p:sp>
      </p:grpSp>
      <p:sp>
        <p:nvSpPr>
          <p:cNvPr id="10" name="Llaves 9"/>
          <p:cNvSpPr/>
          <p:nvPr/>
        </p:nvSpPr>
        <p:spPr>
          <a:xfrm>
            <a:off x="1883272" y="709780"/>
            <a:ext cx="9519834" cy="6025097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Llamada ovalada 5"/>
          <p:cNvSpPr/>
          <p:nvPr/>
        </p:nvSpPr>
        <p:spPr>
          <a:xfrm>
            <a:off x="9999195" y="2537447"/>
            <a:ext cx="2446448" cy="2077403"/>
          </a:xfrm>
          <a:prstGeom prst="wedgeEllipseCallout">
            <a:avLst>
              <a:gd name="adj1" fmla="val -77295"/>
              <a:gd name="adj2" fmla="val 7935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b="1" dirty="0" smtClean="0"/>
              <a:t>Objeto de estudio</a:t>
            </a:r>
          </a:p>
          <a:p>
            <a:pPr algn="ctr"/>
            <a:r>
              <a:rPr lang="es-ES" b="1" dirty="0" smtClean="0"/>
              <a:t> y </a:t>
            </a:r>
          </a:p>
          <a:p>
            <a:pPr algn="ctr"/>
            <a:r>
              <a:rPr lang="es-ES" b="1" dirty="0" smtClean="0"/>
              <a:t>Campo de acción 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780374" y="5165218"/>
            <a:ext cx="77961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 smtClean="0"/>
              <a:t>Objetivo general</a:t>
            </a:r>
            <a:endParaRPr lang="es-ES_tradnl" sz="2400" dirty="0" smtClean="0"/>
          </a:p>
          <a:p>
            <a:r>
              <a:rPr lang="es-ES" sz="2400" dirty="0" smtClean="0"/>
              <a:t>Diseñar e implementar funcionalidades al sistema </a:t>
            </a:r>
            <a:r>
              <a:rPr lang="es-ES_tradnl" sz="2400" dirty="0" smtClean="0"/>
              <a:t>ALMAGIS </a:t>
            </a:r>
            <a:r>
              <a:rPr lang="es-ES" sz="2400" dirty="0" smtClean="0"/>
              <a:t>que permita realizar acciones sin que los usuarios estén forzados a trabajar con los mapas geográficos directamente. </a:t>
            </a:r>
          </a:p>
        </p:txBody>
      </p:sp>
    </p:spTree>
    <p:extLst>
      <p:ext uri="{BB962C8B-B14F-4D97-AF65-F5344CB8AC3E}">
        <p14:creationId xmlns:p14="http://schemas.microsoft.com/office/powerpoint/2010/main" val="290981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64337" y="735396"/>
            <a:ext cx="9034183" cy="2175669"/>
          </a:xfrm>
        </p:spPr>
        <p:txBody>
          <a:bodyPr>
            <a:noAutofit/>
          </a:bodyPr>
          <a:lstStyle/>
          <a:p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1 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5" name="Rectángulo 4"/>
          <p:cNvSpPr/>
          <p:nvPr/>
        </p:nvSpPr>
        <p:spPr>
          <a:xfrm>
            <a:off x="72092" y="2706835"/>
            <a:ext cx="18832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smtClean="0"/>
              <a:t>Formulación </a:t>
            </a:r>
          </a:p>
          <a:p>
            <a:r>
              <a:rPr lang="es-ES" sz="2400" b="1" dirty="0" smtClean="0"/>
              <a:t>del problema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859741" y="994309"/>
            <a:ext cx="93322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 smtClean="0"/>
              <a:t>Objetivos específicos</a:t>
            </a:r>
            <a:endParaRPr lang="es-ES_tradnl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Diseñar una consola web para usuarios expertos.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Implementar un prototipo computacional que se corresponda con los diseños propuestos e integrarlo en el sistema SGRIN como una nueva versión.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2800" dirty="0" smtClean="0"/>
              <a:t>Experimentar las funcionalidades mediante casos de usos. </a:t>
            </a:r>
          </a:p>
        </p:txBody>
      </p:sp>
      <p:sp>
        <p:nvSpPr>
          <p:cNvPr id="7" name="Rectángulo 6"/>
          <p:cNvSpPr/>
          <p:nvPr/>
        </p:nvSpPr>
        <p:spPr>
          <a:xfrm>
            <a:off x="2859741" y="4146936"/>
            <a:ext cx="918322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 smtClean="0"/>
              <a:t>Pregunta científica</a:t>
            </a:r>
          </a:p>
          <a:p>
            <a:r>
              <a:rPr lang="es-ES" sz="2800" dirty="0"/>
              <a:t>¿ALMAGIS puede interactuar con usuarios expertos mediante comandos </a:t>
            </a:r>
            <a:r>
              <a:rPr lang="es-ES" sz="2800" dirty="0" smtClean="0"/>
              <a:t>?</a:t>
            </a:r>
            <a:endParaRPr lang="es-ES_tradnl" sz="2800" dirty="0" smtClean="0"/>
          </a:p>
        </p:txBody>
      </p:sp>
      <p:sp>
        <p:nvSpPr>
          <p:cNvPr id="8" name="Llaves 7"/>
          <p:cNvSpPr/>
          <p:nvPr/>
        </p:nvSpPr>
        <p:spPr>
          <a:xfrm>
            <a:off x="1919504" y="563128"/>
            <a:ext cx="10650071" cy="6204675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4681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64337" y="735396"/>
            <a:ext cx="9034183" cy="2175669"/>
          </a:xfrm>
        </p:spPr>
        <p:txBody>
          <a:bodyPr>
            <a:noAutofit/>
          </a:bodyPr>
          <a:lstStyle/>
          <a:p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1 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5" name="Rectángulo 4"/>
          <p:cNvSpPr/>
          <p:nvPr/>
        </p:nvSpPr>
        <p:spPr>
          <a:xfrm>
            <a:off x="72092" y="2706835"/>
            <a:ext cx="18832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smtClean="0"/>
              <a:t>Formulación </a:t>
            </a:r>
          </a:p>
          <a:p>
            <a:r>
              <a:rPr lang="es-ES" sz="2400" b="1" dirty="0" smtClean="0"/>
              <a:t>del problema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859741" y="994309"/>
            <a:ext cx="93322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 smtClean="0"/>
              <a:t>Objetivos específicos</a:t>
            </a:r>
            <a:endParaRPr lang="es-ES_tradnl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Diseñar una consola web para usuarios expertos.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Implementar un prototipo computacional que se corresponda con los diseños propuestos e integrarlo en el sistema SGRIN como una nueva versión.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2800" dirty="0" smtClean="0"/>
              <a:t>Experimentar las funcionalidades mediante casos de usos. </a:t>
            </a:r>
          </a:p>
        </p:txBody>
      </p:sp>
      <p:sp>
        <p:nvSpPr>
          <p:cNvPr id="7" name="Rectángulo 6"/>
          <p:cNvSpPr/>
          <p:nvPr/>
        </p:nvSpPr>
        <p:spPr>
          <a:xfrm>
            <a:off x="2859741" y="4146936"/>
            <a:ext cx="918322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 smtClean="0"/>
              <a:t>Pregunta científica</a:t>
            </a:r>
          </a:p>
          <a:p>
            <a:r>
              <a:rPr lang="es-ES" sz="2800" dirty="0"/>
              <a:t>¿ALMAGIS puede interactuar con usuarios expertos mediante comandos </a:t>
            </a:r>
            <a:endParaRPr lang="es-ES_tradnl" sz="2800" dirty="0" smtClean="0"/>
          </a:p>
        </p:txBody>
      </p:sp>
      <p:sp>
        <p:nvSpPr>
          <p:cNvPr id="8" name="Llaves 7"/>
          <p:cNvSpPr/>
          <p:nvPr/>
        </p:nvSpPr>
        <p:spPr>
          <a:xfrm>
            <a:off x="1919504" y="563128"/>
            <a:ext cx="10650071" cy="6204675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9722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64337" y="735396"/>
            <a:ext cx="9034183" cy="2175669"/>
          </a:xfrm>
        </p:spPr>
        <p:txBody>
          <a:bodyPr>
            <a:noAutofit/>
          </a:bodyPr>
          <a:lstStyle/>
          <a:p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1 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5" name="Rectángulo 4"/>
          <p:cNvSpPr/>
          <p:nvPr/>
        </p:nvSpPr>
        <p:spPr>
          <a:xfrm>
            <a:off x="254513" y="2455500"/>
            <a:ext cx="19012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/>
              <a:t>Factibilidad</a:t>
            </a:r>
          </a:p>
        </p:txBody>
      </p:sp>
      <p:sp>
        <p:nvSpPr>
          <p:cNvPr id="7" name="Rectángulo 6"/>
          <p:cNvSpPr/>
          <p:nvPr/>
        </p:nvSpPr>
        <p:spPr>
          <a:xfrm>
            <a:off x="2712038" y="1093381"/>
            <a:ext cx="918322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_tradn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2800" dirty="0"/>
              <a:t>Existen </a:t>
            </a:r>
            <a:r>
              <a:rPr lang="es-ES_tradnl" sz="2800" dirty="0" smtClean="0"/>
              <a:t>similares experiencias anteriormente(</a:t>
            </a:r>
            <a:r>
              <a:rPr lang="es-ES_tradnl" sz="2800" i="1" dirty="0" err="1" smtClean="0"/>
              <a:t>LatinoGIS</a:t>
            </a:r>
            <a:r>
              <a:rPr lang="es-ES_tradnl" sz="2800" dirty="0"/>
              <a:t>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err="1" smtClean="0"/>
              <a:t>.</a:t>
            </a:r>
            <a:r>
              <a:rPr lang="es-ES" sz="2800" dirty="0" err="1"/>
              <a:t>Net</a:t>
            </a:r>
            <a:r>
              <a:rPr lang="es-ES" sz="2800" dirty="0"/>
              <a:t> Framework cuenta con las herramientas y recursos necesarios para poder desarrollar la solución.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Se </a:t>
            </a:r>
            <a:r>
              <a:rPr lang="es-ES" sz="2800" dirty="0"/>
              <a:t>cuenta con un producto existente al cual </a:t>
            </a:r>
            <a:r>
              <a:rPr lang="es-ES" sz="2800" dirty="0" smtClean="0"/>
              <a:t>se debe agregar </a:t>
            </a:r>
            <a:r>
              <a:rPr lang="es-ES" sz="2800" dirty="0"/>
              <a:t>las nuevas propuestas.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Es </a:t>
            </a:r>
            <a:r>
              <a:rPr lang="es-ES" sz="2800" dirty="0"/>
              <a:t>realizable en un período de tiempo relativamente corto. </a:t>
            </a:r>
          </a:p>
        </p:txBody>
      </p:sp>
      <p:sp>
        <p:nvSpPr>
          <p:cNvPr id="8" name="Llaves 7"/>
          <p:cNvSpPr/>
          <p:nvPr/>
        </p:nvSpPr>
        <p:spPr>
          <a:xfrm>
            <a:off x="2155803" y="834112"/>
            <a:ext cx="10036197" cy="3699811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9920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64337" y="735396"/>
            <a:ext cx="9034183" cy="2175669"/>
          </a:xfrm>
        </p:spPr>
        <p:txBody>
          <a:bodyPr>
            <a:noAutofit/>
          </a:bodyPr>
          <a:lstStyle/>
          <a:p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1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6" name="Rectángulo 5"/>
          <p:cNvSpPr/>
          <p:nvPr/>
        </p:nvSpPr>
        <p:spPr>
          <a:xfrm>
            <a:off x="2031369" y="1048662"/>
            <a:ext cx="956715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800" dirty="0"/>
              <a:t>El sistema permite la publicación y visualización de la información espacial mediante mapas y la consulta de la información alfanumérica asociada a los elementos representados. </a:t>
            </a:r>
            <a:endParaRPr lang="es-ES" sz="2800" dirty="0" smtClean="0"/>
          </a:p>
          <a:p>
            <a:pPr algn="just"/>
            <a:endParaRPr lang="es-ES" sz="2800" dirty="0"/>
          </a:p>
          <a:p>
            <a:pPr algn="just"/>
            <a:r>
              <a:rPr lang="es-ES" sz="2800" dirty="0" smtClean="0"/>
              <a:t>Además</a:t>
            </a:r>
            <a:r>
              <a:rPr lang="es-ES" sz="2800" dirty="0"/>
              <a:t>, brinda funcionalidades para destacar locaciones como </a:t>
            </a:r>
            <a:r>
              <a:rPr lang="es-ES" sz="2800" i="1" dirty="0"/>
              <a:t>puntos calientes </a:t>
            </a:r>
            <a:r>
              <a:rPr lang="es-ES" sz="2800" dirty="0"/>
              <a:t>o </a:t>
            </a:r>
            <a:r>
              <a:rPr lang="es-ES" sz="2800" i="1" dirty="0"/>
              <a:t>lugares de interés </a:t>
            </a:r>
            <a:r>
              <a:rPr lang="es-ES" sz="2800" dirty="0"/>
              <a:t>[Reyes Fleitas, 2013] y gestionar contenidos, controlar roles de usuarios y acceso al sistema [Sastre Pérez, 2014] </a:t>
            </a:r>
            <a:endParaRPr lang="es-ES" sz="2800" dirty="0" smtClean="0"/>
          </a:p>
          <a:p>
            <a:pPr algn="just"/>
            <a:endParaRPr lang="es-ES" sz="2800" dirty="0" smtClean="0"/>
          </a:p>
          <a:p>
            <a:pPr algn="just"/>
            <a:r>
              <a:rPr lang="es-ES" sz="2800" dirty="0" smtClean="0"/>
              <a:t>Sin embargo, para usuarios experto consultar información sobre la visualización del mapa resulta incómodo… </a:t>
            </a:r>
            <a:endParaRPr lang="es-ES_tradnl" sz="2800" dirty="0" smtClean="0"/>
          </a:p>
        </p:txBody>
      </p:sp>
      <p:sp>
        <p:nvSpPr>
          <p:cNvPr id="9" name="Rectángulo 8"/>
          <p:cNvSpPr/>
          <p:nvPr/>
        </p:nvSpPr>
        <p:spPr>
          <a:xfrm>
            <a:off x="27987" y="3079986"/>
            <a:ext cx="17407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400" b="1" dirty="0" smtClean="0"/>
              <a:t>Justificación</a:t>
            </a:r>
          </a:p>
          <a:p>
            <a:pPr algn="ctr"/>
            <a:r>
              <a:rPr lang="es-ES" sz="2400" b="1" dirty="0" smtClean="0"/>
              <a:t> o </a:t>
            </a:r>
          </a:p>
          <a:p>
            <a:pPr algn="ctr"/>
            <a:r>
              <a:rPr lang="es-ES" sz="2400" b="1" dirty="0" smtClean="0"/>
              <a:t>motivación</a:t>
            </a:r>
          </a:p>
        </p:txBody>
      </p:sp>
      <p:sp>
        <p:nvSpPr>
          <p:cNvPr id="10" name="Llaves 9"/>
          <p:cNvSpPr/>
          <p:nvPr/>
        </p:nvSpPr>
        <p:spPr>
          <a:xfrm>
            <a:off x="1506071" y="834112"/>
            <a:ext cx="10685929" cy="5754947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3300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21367" y="-383758"/>
            <a:ext cx="10515600" cy="1325563"/>
          </a:xfrm>
        </p:spPr>
        <p:txBody>
          <a:bodyPr/>
          <a:lstStyle/>
          <a:p>
            <a:r>
              <a:rPr lang="es-ES" dirty="0" smtClean="0"/>
              <a:t>Ejemplo 2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61665" y="129594"/>
            <a:ext cx="9030335" cy="2825444"/>
          </a:xfrm>
        </p:spPr>
        <p:txBody>
          <a:bodyPr>
            <a:noAutofit/>
          </a:bodyPr>
          <a:lstStyle/>
          <a:p>
            <a:endParaRPr lang="es-ES_tradnl" dirty="0"/>
          </a:p>
          <a:p>
            <a:r>
              <a:rPr lang="es-ES" dirty="0"/>
              <a:t> Mediante métodos de planeación de ruta se busca encontrar una ruta libre de colisión entre la posición inicial del robot y el punto meta, valiéndose asimismo de métodos de evasión de obstáculos en la trayectoria de navegación. </a:t>
            </a:r>
            <a:r>
              <a:rPr lang="es-ES" dirty="0" smtClean="0"/>
              <a:t>.</a:t>
            </a:r>
            <a:endParaRPr lang="es-ES_tradnl" dirty="0"/>
          </a:p>
        </p:txBody>
      </p:sp>
      <p:sp>
        <p:nvSpPr>
          <p:cNvPr id="4" name="Rectángulo 3"/>
          <p:cNvSpPr/>
          <p:nvPr/>
        </p:nvSpPr>
        <p:spPr>
          <a:xfrm>
            <a:off x="606176" y="1216280"/>
            <a:ext cx="17181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smtClean="0"/>
              <a:t>Percibir </a:t>
            </a:r>
          </a:p>
          <a:p>
            <a:r>
              <a:rPr lang="es-ES" sz="2400" b="1" dirty="0" smtClean="0"/>
              <a:t>el problema</a:t>
            </a:r>
          </a:p>
        </p:txBody>
      </p:sp>
      <p:sp>
        <p:nvSpPr>
          <p:cNvPr id="5" name="Llaves 4"/>
          <p:cNvSpPr/>
          <p:nvPr/>
        </p:nvSpPr>
        <p:spPr>
          <a:xfrm>
            <a:off x="2665379" y="216753"/>
            <a:ext cx="9185582" cy="2830053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0" name="Grupo 9"/>
          <p:cNvGrpSpPr/>
          <p:nvPr/>
        </p:nvGrpSpPr>
        <p:grpSpPr>
          <a:xfrm>
            <a:off x="606178" y="4063440"/>
            <a:ext cx="11585822" cy="1822441"/>
            <a:chOff x="606177" y="4983593"/>
            <a:chExt cx="11585822" cy="1822441"/>
          </a:xfrm>
        </p:grpSpPr>
        <p:sp>
          <p:nvSpPr>
            <p:cNvPr id="7" name="Rectángulo 6"/>
            <p:cNvSpPr/>
            <p:nvPr/>
          </p:nvSpPr>
          <p:spPr>
            <a:xfrm>
              <a:off x="3006415" y="5286507"/>
              <a:ext cx="884454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s-ES_tradnl" sz="2800" dirty="0"/>
            </a:p>
          </p:txBody>
        </p:sp>
        <p:sp>
          <p:nvSpPr>
            <p:cNvPr id="8" name="Llaves 7"/>
            <p:cNvSpPr/>
            <p:nvPr/>
          </p:nvSpPr>
          <p:spPr>
            <a:xfrm>
              <a:off x="2665378" y="4983593"/>
              <a:ext cx="9526621" cy="1822441"/>
            </a:xfrm>
            <a:prstGeom prst="bracePair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606177" y="5286507"/>
              <a:ext cx="171816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400" b="1" dirty="0" smtClean="0"/>
                <a:t>Analizar</a:t>
              </a:r>
            </a:p>
            <a:p>
              <a:r>
                <a:rPr lang="es-ES" sz="2400" b="1" dirty="0" smtClean="0"/>
                <a:t>el problema</a:t>
              </a:r>
            </a:p>
          </p:txBody>
        </p:sp>
      </p:grpSp>
      <p:sp>
        <p:nvSpPr>
          <p:cNvPr id="6" name="Rectángulo 5"/>
          <p:cNvSpPr/>
          <p:nvPr/>
        </p:nvSpPr>
        <p:spPr>
          <a:xfrm>
            <a:off x="3218518" y="3831592"/>
            <a:ext cx="863244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_tradnl" sz="2800" b="0" i="0" u="none" strike="noStrik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2800" b="0" i="0" u="none" strike="noStrik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Atendiendo a las restricción el costo de los componentes, se puede definir un modelo de detección y evasión de obstáculos, basado en sensores ultrasónicos </a:t>
            </a:r>
            <a:endParaRPr lang="es-ES_tradnl" sz="2800" dirty="0"/>
          </a:p>
        </p:txBody>
      </p:sp>
    </p:spTree>
    <p:extLst>
      <p:ext uri="{BB962C8B-B14F-4D97-AF65-F5344CB8AC3E}">
        <p14:creationId xmlns:p14="http://schemas.microsoft.com/office/powerpoint/2010/main" val="89055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2 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393038" y="446934"/>
            <a:ext cx="8047309" cy="2353250"/>
          </a:xfrm>
        </p:spPr>
        <p:txBody>
          <a:bodyPr>
            <a:noAutofit/>
          </a:bodyPr>
          <a:lstStyle/>
          <a:p>
            <a:endParaRPr lang="es-ES_tradnl" sz="2400" dirty="0" smtClean="0"/>
          </a:p>
          <a:p>
            <a:pPr marL="0" indent="0">
              <a:buNone/>
            </a:pPr>
            <a:r>
              <a:rPr lang="es-ES" sz="2400" b="1" dirty="0" smtClean="0"/>
              <a:t>Problema o situación </a:t>
            </a:r>
            <a:r>
              <a:rPr lang="es-ES" sz="2400" b="1" dirty="0" err="1" smtClean="0"/>
              <a:t>problémica</a:t>
            </a:r>
            <a:endParaRPr lang="es-ES" sz="2400" b="1" dirty="0" smtClean="0"/>
          </a:p>
          <a:p>
            <a:r>
              <a:rPr lang="es-ES" sz="2400" dirty="0" smtClean="0"/>
              <a:t>Disponer de modelos de detección de obstáculos  en la robótica que sean económicos y que actúen en tiempo real. </a:t>
            </a:r>
            <a:endParaRPr lang="es-ES" sz="2400" dirty="0"/>
          </a:p>
          <a:p>
            <a:endParaRPr lang="es-ES_tradnl" sz="2400" dirty="0"/>
          </a:p>
          <a:p>
            <a:pPr marL="0" indent="0">
              <a:buNone/>
            </a:pPr>
            <a:endParaRPr lang="es-ES" sz="2400" dirty="0" smtClean="0"/>
          </a:p>
          <a:p>
            <a:pPr marL="0" indent="0">
              <a:buNone/>
            </a:pPr>
            <a:endParaRPr lang="es-ES" sz="2400" dirty="0" smtClean="0"/>
          </a:p>
          <a:p>
            <a:pPr marL="0" indent="0">
              <a:buNone/>
            </a:pPr>
            <a:endParaRPr lang="es-ES" sz="2400" dirty="0" smtClean="0"/>
          </a:p>
          <a:p>
            <a:pPr marL="0" indent="0">
              <a:buNone/>
            </a:pPr>
            <a:endParaRPr lang="es-ES" sz="2400" b="1" dirty="0" smtClean="0"/>
          </a:p>
          <a:p>
            <a:pPr marL="0" indent="0">
              <a:buNone/>
            </a:pPr>
            <a:endParaRPr lang="es-ES" sz="2400" dirty="0" smtClean="0"/>
          </a:p>
        </p:txBody>
      </p:sp>
      <p:sp>
        <p:nvSpPr>
          <p:cNvPr id="5" name="Rectángulo 4"/>
          <p:cNvSpPr/>
          <p:nvPr/>
        </p:nvSpPr>
        <p:spPr>
          <a:xfrm>
            <a:off x="0" y="3212918"/>
            <a:ext cx="18832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smtClean="0"/>
              <a:t>Formulación </a:t>
            </a:r>
          </a:p>
          <a:p>
            <a:r>
              <a:rPr lang="es-ES" sz="2400" b="1" dirty="0" smtClean="0"/>
              <a:t>del problema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2753383" y="2345635"/>
            <a:ext cx="7598924" cy="2719986"/>
            <a:chOff x="2762655" y="3495974"/>
            <a:chExt cx="7598924" cy="2719986"/>
          </a:xfrm>
        </p:grpSpPr>
        <p:sp>
          <p:nvSpPr>
            <p:cNvPr id="7" name="Flecha abajo 6"/>
            <p:cNvSpPr/>
            <p:nvPr/>
          </p:nvSpPr>
          <p:spPr>
            <a:xfrm>
              <a:off x="5836597" y="3495974"/>
              <a:ext cx="1756816" cy="149173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¿</a:t>
              </a:r>
              <a:r>
                <a:rPr lang="es-ES" dirty="0" smtClean="0"/>
                <a:t>Cómo lo logro?</a:t>
              </a:r>
              <a:endParaRPr lang="es-ES_tradnl" dirty="0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2762655" y="5015631"/>
              <a:ext cx="759892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400" dirty="0" smtClean="0"/>
                <a:t>Utilización de señores ultrasónico para la detección de obstáculos  y aplicarlos para el movimiento de robot en tiempo real</a:t>
              </a:r>
              <a:endParaRPr lang="es-ES" sz="2400" dirty="0"/>
            </a:p>
          </p:txBody>
        </p:sp>
      </p:grpSp>
      <p:sp>
        <p:nvSpPr>
          <p:cNvPr id="10" name="Llaves 9"/>
          <p:cNvSpPr/>
          <p:nvPr/>
        </p:nvSpPr>
        <p:spPr>
          <a:xfrm>
            <a:off x="1883272" y="709780"/>
            <a:ext cx="9519834" cy="6025097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Llamada ovalada 5"/>
          <p:cNvSpPr/>
          <p:nvPr/>
        </p:nvSpPr>
        <p:spPr>
          <a:xfrm>
            <a:off x="9999195" y="2537447"/>
            <a:ext cx="2446448" cy="2077403"/>
          </a:xfrm>
          <a:prstGeom prst="wedgeEllipseCallout">
            <a:avLst>
              <a:gd name="adj1" fmla="val -77295"/>
              <a:gd name="adj2" fmla="val 7935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b="1" dirty="0" smtClean="0"/>
              <a:t>Objeto de estudio</a:t>
            </a:r>
          </a:p>
          <a:p>
            <a:pPr algn="ctr"/>
            <a:r>
              <a:rPr lang="es-ES" b="1" dirty="0" smtClean="0"/>
              <a:t> y </a:t>
            </a:r>
          </a:p>
          <a:p>
            <a:pPr algn="ctr"/>
            <a:r>
              <a:rPr lang="es-ES" b="1" dirty="0" smtClean="0"/>
              <a:t>Campo de acción 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780374" y="5165218"/>
            <a:ext cx="77961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 smtClean="0"/>
              <a:t>Objetivo general</a:t>
            </a:r>
            <a:endParaRPr lang="es-ES_tradnl" sz="2400" dirty="0" smtClean="0"/>
          </a:p>
          <a:p>
            <a:r>
              <a:rPr lang="es-ES" sz="2400" dirty="0" smtClean="0"/>
              <a:t>Desarrollar </a:t>
            </a:r>
            <a:r>
              <a:rPr lang="es-ES" sz="2400" dirty="0"/>
              <a:t>un modelo de detección y evasión de obstáculos para robots móviles, de bajo costo, en tiempo real basado en sensores ultrasónicos </a:t>
            </a:r>
            <a:r>
              <a:rPr lang="es-ES" sz="24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5297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64337" y="735396"/>
            <a:ext cx="9034183" cy="2175669"/>
          </a:xfrm>
        </p:spPr>
        <p:txBody>
          <a:bodyPr>
            <a:noAutofit/>
          </a:bodyPr>
          <a:lstStyle/>
          <a:p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2 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5" name="Rectángulo 4"/>
          <p:cNvSpPr/>
          <p:nvPr/>
        </p:nvSpPr>
        <p:spPr>
          <a:xfrm>
            <a:off x="72092" y="2706835"/>
            <a:ext cx="18832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smtClean="0"/>
              <a:t>Formulación </a:t>
            </a:r>
          </a:p>
          <a:p>
            <a:r>
              <a:rPr lang="es-ES" sz="2400" b="1" dirty="0" smtClean="0"/>
              <a:t>del problema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751788" y="1337229"/>
            <a:ext cx="933225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 smtClean="0"/>
              <a:t>Objetivos específicos</a:t>
            </a:r>
          </a:p>
          <a:p>
            <a:endParaRPr lang="es-ES_tradn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Estudiar de las alternativas de hardware de bajo costo así como su programación desde las plataformas computacionales de los prototipos robóticos. </a:t>
            </a:r>
            <a:endParaRPr lang="es-ES_tradn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Estudiar </a:t>
            </a:r>
            <a:r>
              <a:rPr lang="es-ES" sz="2800" dirty="0"/>
              <a:t>el estado del arte relacionado con los algoritmos de evasión de obstáculos centrando la investigación en los algoritmos basados en ultrasonidos. </a:t>
            </a:r>
            <a:endParaRPr lang="es-ES_tradn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Diseñar e implementar </a:t>
            </a:r>
            <a:r>
              <a:rPr lang="es-ES" sz="2800" dirty="0"/>
              <a:t>el modelo de detección de obstáculos acorde a los requerimientos de software y hardware establecidos. </a:t>
            </a:r>
            <a:endParaRPr lang="es-ES_tradnl" sz="2800" dirty="0"/>
          </a:p>
        </p:txBody>
      </p:sp>
      <p:sp>
        <p:nvSpPr>
          <p:cNvPr id="8" name="Llaves 7"/>
          <p:cNvSpPr/>
          <p:nvPr/>
        </p:nvSpPr>
        <p:spPr>
          <a:xfrm>
            <a:off x="1919504" y="563128"/>
            <a:ext cx="10650071" cy="6204675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103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64337" y="735396"/>
            <a:ext cx="9034183" cy="2175669"/>
          </a:xfrm>
        </p:spPr>
        <p:txBody>
          <a:bodyPr>
            <a:noAutofit/>
          </a:bodyPr>
          <a:lstStyle/>
          <a:p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5" name="Rectángulo 4"/>
          <p:cNvSpPr/>
          <p:nvPr/>
        </p:nvSpPr>
        <p:spPr>
          <a:xfrm>
            <a:off x="72092" y="2706835"/>
            <a:ext cx="18832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 smtClean="0"/>
              <a:t>Formulación </a:t>
            </a:r>
          </a:p>
          <a:p>
            <a:r>
              <a:rPr lang="es-ES" sz="2400" b="1" dirty="0" smtClean="0"/>
              <a:t>del problema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964794" y="408299"/>
            <a:ext cx="933225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 smtClean="0"/>
              <a:t>Objetivos específicos</a:t>
            </a:r>
            <a:endParaRPr lang="es-ES_tradnl" sz="2400" b="1" dirty="0" smtClean="0"/>
          </a:p>
          <a:p>
            <a:endParaRPr lang="es-ES_tradn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/>
              <a:t>Estudiar de las alternativas de hardware de bajo costo así como su programación desde las plataformas computacionales de los prototipos robóticos.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_tradn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smtClean="0"/>
              <a:t>Estudiar </a:t>
            </a:r>
            <a:r>
              <a:rPr lang="es-ES" sz="2400" dirty="0"/>
              <a:t>el estado del arte relacionado con los algoritmos de evasión de obstáculos centrando la investigación en los algoritmos basados en ultrasonidos.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_tradn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smtClean="0"/>
              <a:t>Diseñar e implementar </a:t>
            </a:r>
            <a:r>
              <a:rPr lang="es-ES" sz="2400" dirty="0"/>
              <a:t>el </a:t>
            </a:r>
            <a:r>
              <a:rPr lang="es-ES" sz="2400" dirty="0" smtClean="0"/>
              <a:t>prototipo de modelo </a:t>
            </a:r>
            <a:r>
              <a:rPr lang="es-ES" sz="2400" dirty="0"/>
              <a:t>de detección de obstáculos acorde a los requerimientos de software y hardware establecidos. </a:t>
            </a:r>
          </a:p>
          <a:p>
            <a:endParaRPr lang="es-ES_tradnl" sz="2400" dirty="0"/>
          </a:p>
          <a:p>
            <a:endParaRPr lang="es-ES" sz="2400" dirty="0"/>
          </a:p>
        </p:txBody>
      </p:sp>
      <p:sp>
        <p:nvSpPr>
          <p:cNvPr id="7" name="Rectángulo 6"/>
          <p:cNvSpPr/>
          <p:nvPr/>
        </p:nvSpPr>
        <p:spPr>
          <a:xfrm>
            <a:off x="3039312" y="5269249"/>
            <a:ext cx="918322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 smtClean="0"/>
              <a:t>Hipótesis</a:t>
            </a:r>
          </a:p>
          <a:p>
            <a:r>
              <a:rPr lang="es-ES" sz="2400" dirty="0" smtClean="0"/>
              <a:t>Un modelo de detección de obstáculo, de bajo costo, basado en sensores ultrasónico posibilita el movimiento de un robot desde su posición inicial hasta el punto de meta. </a:t>
            </a:r>
            <a:endParaRPr lang="es-ES_tradnl" sz="2400" dirty="0" smtClean="0"/>
          </a:p>
        </p:txBody>
      </p:sp>
      <p:sp>
        <p:nvSpPr>
          <p:cNvPr id="8" name="Llaves 7"/>
          <p:cNvSpPr/>
          <p:nvPr/>
        </p:nvSpPr>
        <p:spPr>
          <a:xfrm>
            <a:off x="1919504" y="563128"/>
            <a:ext cx="10650071" cy="6204675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2033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64337" y="735396"/>
            <a:ext cx="9034183" cy="2175669"/>
          </a:xfrm>
        </p:spPr>
        <p:txBody>
          <a:bodyPr>
            <a:noAutofit/>
          </a:bodyPr>
          <a:lstStyle/>
          <a:p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dirty="0" smtClean="0"/>
              <a:t>Ejemplo 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5" name="Rectángulo 4"/>
          <p:cNvSpPr/>
          <p:nvPr/>
        </p:nvSpPr>
        <p:spPr>
          <a:xfrm>
            <a:off x="254513" y="2455500"/>
            <a:ext cx="19012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/>
              <a:t>Factibilidad</a:t>
            </a:r>
          </a:p>
        </p:txBody>
      </p:sp>
      <p:sp>
        <p:nvSpPr>
          <p:cNvPr id="7" name="Rectángulo 6"/>
          <p:cNvSpPr/>
          <p:nvPr/>
        </p:nvSpPr>
        <p:spPr>
          <a:xfrm>
            <a:off x="2712038" y="1093381"/>
            <a:ext cx="918322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_tradn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2800" dirty="0"/>
              <a:t>Existen </a:t>
            </a:r>
            <a:r>
              <a:rPr lang="es-ES_tradnl" sz="2800" dirty="0" smtClean="0"/>
              <a:t>similares experiencias en métodos detección de obstáculos. </a:t>
            </a:r>
            <a:endParaRPr lang="es-ES_tradn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Se cuenta en la Facultad de Matemática y Computación con una </a:t>
            </a:r>
            <a:r>
              <a:rPr lang="es-ES_tradnl" sz="2800" dirty="0" smtClean="0"/>
              <a:t>plataforma </a:t>
            </a:r>
            <a:r>
              <a:rPr lang="es-ES_tradnl" sz="2800" dirty="0"/>
              <a:t>desarrollada </a:t>
            </a:r>
            <a:r>
              <a:rPr lang="es-ES_tradnl" sz="2800" dirty="0" smtClean="0"/>
              <a:t>“</a:t>
            </a:r>
            <a:r>
              <a:rPr lang="es-ES_tradnl" sz="2800" dirty="0" err="1" smtClean="0"/>
              <a:t>PyBot</a:t>
            </a:r>
            <a:r>
              <a:rPr lang="es-ES_tradnl" sz="2800" dirty="0" smtClean="0"/>
              <a:t>”, para el movimiento del robot.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Se disponen de señores ultrasónico para desarrollar el prototipo.</a:t>
            </a:r>
            <a:endParaRPr lang="es-ES_tradnl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Es </a:t>
            </a:r>
            <a:r>
              <a:rPr lang="es-ES" sz="2800" dirty="0"/>
              <a:t>realizable en un período de tiempo relativamente corto. </a:t>
            </a:r>
          </a:p>
        </p:txBody>
      </p:sp>
      <p:sp>
        <p:nvSpPr>
          <p:cNvPr id="8" name="Llaves 7"/>
          <p:cNvSpPr/>
          <p:nvPr/>
        </p:nvSpPr>
        <p:spPr>
          <a:xfrm>
            <a:off x="2155803" y="834112"/>
            <a:ext cx="10036197" cy="4433627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360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64337" y="735396"/>
            <a:ext cx="9034183" cy="2175669"/>
          </a:xfrm>
        </p:spPr>
        <p:txBody>
          <a:bodyPr>
            <a:noAutofit/>
          </a:bodyPr>
          <a:lstStyle/>
          <a:p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-154021" y="-276901"/>
            <a:ext cx="10515600" cy="1325563"/>
          </a:xfrm>
        </p:spPr>
        <p:txBody>
          <a:bodyPr/>
          <a:lstStyle/>
          <a:p>
            <a:r>
              <a:rPr lang="es-ES" smtClean="0"/>
              <a:t>Ejemplo </a:t>
            </a:r>
            <a:r>
              <a:rPr lang="es-ES" smtClean="0"/>
              <a:t>2 </a:t>
            </a:r>
            <a:r>
              <a:rPr lang="es-ES" sz="3200" dirty="0" smtClean="0"/>
              <a:t>(cont.)</a:t>
            </a:r>
            <a:endParaRPr lang="es-ES_tradnl" sz="3200" dirty="0"/>
          </a:p>
        </p:txBody>
      </p:sp>
      <p:sp>
        <p:nvSpPr>
          <p:cNvPr id="6" name="Rectángulo 5"/>
          <p:cNvSpPr/>
          <p:nvPr/>
        </p:nvSpPr>
        <p:spPr>
          <a:xfrm>
            <a:off x="2065459" y="888861"/>
            <a:ext cx="956715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_tradnl" sz="2800" dirty="0"/>
          </a:p>
          <a:p>
            <a:r>
              <a:rPr lang="es-ES" sz="2800" dirty="0"/>
              <a:t> Un robot móvil puede encontrarse con obstáculos estáticos o en movimiento. Para que sean útiles en el mundo real, </a:t>
            </a:r>
            <a:r>
              <a:rPr lang="es-ES" sz="2800" dirty="0" smtClean="0"/>
              <a:t>estos </a:t>
            </a:r>
            <a:r>
              <a:rPr lang="es-ES" sz="2800" dirty="0"/>
              <a:t>robots </a:t>
            </a:r>
            <a:r>
              <a:rPr lang="es-ES" sz="2800" dirty="0" smtClean="0"/>
              <a:t>deben </a:t>
            </a:r>
            <a:r>
              <a:rPr lang="es-ES" sz="2800" dirty="0"/>
              <a:t>moverse con seguridad en entornos no estructurados y alcanzar sus metas pese a los cambios que </a:t>
            </a:r>
            <a:r>
              <a:rPr lang="es-ES" sz="2800" dirty="0" smtClean="0"/>
              <a:t>ocurran en el entorno. </a:t>
            </a:r>
          </a:p>
          <a:p>
            <a:r>
              <a:rPr lang="es-ES" sz="2800" dirty="0" smtClean="0"/>
              <a:t>Los </a:t>
            </a:r>
            <a:r>
              <a:rPr lang="es-ES" sz="2800" dirty="0"/>
              <a:t>entornos reales rara vez son predecibles o perfectamente conocidos para el robot. </a:t>
            </a:r>
            <a:endParaRPr lang="es-ES" sz="2800" dirty="0" smtClean="0"/>
          </a:p>
          <a:p>
            <a:r>
              <a:rPr lang="es-ES_tradnl" sz="2800" dirty="0" smtClean="0"/>
              <a:t>L</a:t>
            </a:r>
            <a:r>
              <a:rPr lang="es-ES" sz="2800" dirty="0" err="1" smtClean="0"/>
              <a:t>amentablemente</a:t>
            </a:r>
            <a:r>
              <a:rPr lang="es-ES" sz="2800" dirty="0"/>
              <a:t>, la mayor parte de las soluciones, al menos la más exitosas requieren que el robot tenga incorporado </a:t>
            </a:r>
            <a:r>
              <a:rPr lang="es-ES" sz="2800" dirty="0" smtClean="0"/>
              <a:t>un conjunto de los dispositivos, </a:t>
            </a:r>
            <a:r>
              <a:rPr lang="es-ES" sz="2800" dirty="0"/>
              <a:t>imposibilitando su puesta en práctica utilizando componentes electrónicas sencilla y de bajos precios. </a:t>
            </a:r>
            <a:endParaRPr lang="es-ES_tradnl" sz="2800" dirty="0" smtClean="0"/>
          </a:p>
        </p:txBody>
      </p:sp>
      <p:sp>
        <p:nvSpPr>
          <p:cNvPr id="9" name="Rectángulo 8"/>
          <p:cNvSpPr/>
          <p:nvPr/>
        </p:nvSpPr>
        <p:spPr>
          <a:xfrm>
            <a:off x="27987" y="3079986"/>
            <a:ext cx="17407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400" b="1" dirty="0" smtClean="0"/>
              <a:t>Justificación</a:t>
            </a:r>
          </a:p>
          <a:p>
            <a:pPr algn="ctr"/>
            <a:r>
              <a:rPr lang="es-ES" sz="2400" b="1" dirty="0" smtClean="0"/>
              <a:t> o </a:t>
            </a:r>
          </a:p>
          <a:p>
            <a:pPr algn="ctr"/>
            <a:r>
              <a:rPr lang="es-ES" sz="2400" b="1" dirty="0" smtClean="0"/>
              <a:t>motivación</a:t>
            </a:r>
          </a:p>
        </p:txBody>
      </p:sp>
      <p:sp>
        <p:nvSpPr>
          <p:cNvPr id="10" name="Llaves 9"/>
          <p:cNvSpPr/>
          <p:nvPr/>
        </p:nvSpPr>
        <p:spPr>
          <a:xfrm>
            <a:off x="1506071" y="834112"/>
            <a:ext cx="10685929" cy="5754947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4135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s-ES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Componentes de un introducción de un informe investigativo</a:t>
            </a:r>
            <a:endParaRPr lang="es-ES_tradnl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53035" y="2280284"/>
            <a:ext cx="11241741" cy="4351338"/>
          </a:xfrm>
        </p:spPr>
        <p:txBody>
          <a:bodyPr>
            <a:noAutofit/>
          </a:bodyPr>
          <a:lstStyle/>
          <a:p>
            <a:r>
              <a:rPr lang="es-ES" dirty="0" smtClean="0"/>
              <a:t>Contexto </a:t>
            </a:r>
            <a:r>
              <a:rPr lang="es-ES" dirty="0"/>
              <a:t>histórico/social donde se desarrolla la investigación. </a:t>
            </a:r>
          </a:p>
          <a:p>
            <a:r>
              <a:rPr lang="es-ES_tradnl" dirty="0" smtClean="0"/>
              <a:t>Antecedentes </a:t>
            </a:r>
            <a:r>
              <a:rPr lang="es-ES_tradnl" dirty="0"/>
              <a:t>del problema </a:t>
            </a:r>
            <a:r>
              <a:rPr lang="es-ES_tradnl" dirty="0" smtClean="0"/>
              <a:t>científico (justificación o motivación)</a:t>
            </a:r>
          </a:p>
          <a:p>
            <a:r>
              <a:rPr lang="es-ES" dirty="0" smtClean="0"/>
              <a:t>Breve presentación de la problemática </a:t>
            </a:r>
          </a:p>
          <a:p>
            <a:r>
              <a:rPr lang="es-ES_tradnl" dirty="0" smtClean="0"/>
              <a:t>Actualidad, Novedad científica e importancia </a:t>
            </a:r>
            <a:r>
              <a:rPr lang="es-ES_tradnl" dirty="0"/>
              <a:t>teórica y práctica </a:t>
            </a:r>
            <a:endParaRPr lang="es-ES_tradnl" dirty="0" smtClean="0"/>
          </a:p>
          <a:p>
            <a:r>
              <a:rPr lang="es-ES_tradnl" dirty="0"/>
              <a:t>Diseño teórico: Problema </a:t>
            </a:r>
            <a:r>
              <a:rPr lang="es-ES_tradnl" dirty="0" smtClean="0"/>
              <a:t>científico, </a:t>
            </a:r>
            <a:r>
              <a:rPr lang="es-ES_tradnl" sz="2800" dirty="0" smtClean="0"/>
              <a:t>Objeto de estudio, Objetivos (general y específicos) y campo de acción</a:t>
            </a:r>
          </a:p>
          <a:p>
            <a:r>
              <a:rPr lang="es-ES_tradnl" dirty="0" smtClean="0"/>
              <a:t>Hipótesis </a:t>
            </a:r>
            <a:r>
              <a:rPr lang="es-ES_tradnl" dirty="0"/>
              <a:t>o Pregunta científica </a:t>
            </a:r>
          </a:p>
          <a:p>
            <a:r>
              <a:rPr lang="es-ES_tradnl" dirty="0"/>
              <a:t>Estructuración del trabajo </a:t>
            </a:r>
          </a:p>
          <a:p>
            <a:endParaRPr lang="es-ES_tradnl" dirty="0"/>
          </a:p>
          <a:p>
            <a:pPr marL="0" indent="0"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9513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s-ES" b="1" dirty="0" smtClean="0"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Concordancias que deben </a:t>
            </a:r>
            <a:r>
              <a:rPr lang="es-ES" b="1" dirty="0"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quedar demostradas </a:t>
            </a:r>
            <a:r>
              <a:rPr lang="es-ES" b="1" dirty="0" smtClean="0"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en un informe investigativo</a:t>
            </a:r>
            <a:endParaRPr lang="es-ES_tradnl" b="1" dirty="0"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23582" y="1594503"/>
            <a:ext cx="11344835" cy="553243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_tradnl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Problema </a:t>
            </a:r>
            <a:r>
              <a:rPr lang="es-ES_tradn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Objeto de estudio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Objeto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estudio – Campo de acción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Campo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acción – Objetivo 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Objetivo </a:t>
            </a:r>
            <a:r>
              <a:rPr lang="es-ES_tradn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Tareas investigativas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Tareas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investigativas – Métodos de investigación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Diseño </a:t>
            </a:r>
            <a:r>
              <a:rPr lang="es-E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investigación – Estructura de la tesis 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Objetivos </a:t>
            </a:r>
            <a:r>
              <a:rPr lang="es-ES_tradn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Resultados 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Resultados </a:t>
            </a:r>
            <a:r>
              <a:rPr lang="es-ES_tradn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Discusión 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Objetivos </a:t>
            </a:r>
            <a:r>
              <a:rPr lang="es-ES_tradn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Conclusiones 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Conclusiones </a:t>
            </a:r>
            <a:r>
              <a:rPr lang="es-ES_tradn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Recomendaciones </a:t>
            </a:r>
          </a:p>
          <a:p>
            <a:endParaRPr lang="es-ES_tradnl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95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1199</Words>
  <Application>Microsoft Office PowerPoint</Application>
  <PresentationFormat>Personalizado</PresentationFormat>
  <Paragraphs>171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Tema de Office</vt:lpstr>
      <vt:lpstr>Presentación de PowerPoint</vt:lpstr>
      <vt:lpstr>Resolución de problemas</vt:lpstr>
      <vt:lpstr>Etapas de la resolución de un problema en Ciencia de la Computación</vt:lpstr>
      <vt:lpstr>Ejemplo 1</vt:lpstr>
      <vt:lpstr>Ejemplo 1 cont.)</vt:lpstr>
      <vt:lpstr>Ejemplo 1 (cont.)</vt:lpstr>
      <vt:lpstr>Ejemplo 1 (cont.)</vt:lpstr>
      <vt:lpstr>Ejemplo 1 (cont.)</vt:lpstr>
      <vt:lpstr>Ejemplo 1(cont.)</vt:lpstr>
      <vt:lpstr>Ejemplo 2</vt:lpstr>
      <vt:lpstr>Ejemplo 2 (cont.)</vt:lpstr>
      <vt:lpstr>Ejemplo 2 (cont.)</vt:lpstr>
      <vt:lpstr>Ejemplo (cont.)</vt:lpstr>
      <vt:lpstr>Ejemplo (cont.)</vt:lpstr>
      <vt:lpstr>Ejemplo 2 (cont.)</vt:lpstr>
      <vt:lpstr>Componentes de un introducción de un informe investigativo</vt:lpstr>
      <vt:lpstr>Concordancias que deben quedar demostradas en un informe investigativo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Carmen T Fernandez</dc:creator>
  <cp:lastModifiedBy>carmen</cp:lastModifiedBy>
  <cp:revision>22</cp:revision>
  <dcterms:created xsi:type="dcterms:W3CDTF">2019-11-17T16:11:42Z</dcterms:created>
  <dcterms:modified xsi:type="dcterms:W3CDTF">2021-09-29T19:00:58Z</dcterms:modified>
</cp:coreProperties>
</file>